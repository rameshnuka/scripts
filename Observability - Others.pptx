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2"/>
  </p:notesMasterIdLst>
  <p:sldIdLst>
    <p:sldId id="257" r:id="rId5"/>
    <p:sldId id="265" r:id="rId6"/>
    <p:sldId id="269" r:id="rId7"/>
    <p:sldId id="270" r:id="rId8"/>
    <p:sldId id="281" r:id="rId9"/>
    <p:sldId id="272" r:id="rId10"/>
    <p:sldId id="264"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B4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A92B4DE-2183-FA85-97F9-4E39929B65A0}" v="94" dt="2025-07-21T13:53:07.357"/>
    <p1510:client id="{6B7AD138-5D02-E049-AAA8-E7456F7E610C}" v="235" dt="2025-07-21T15:01:24.688"/>
    <p1510:client id="{AAACD1AC-06EB-54A5-9911-88DB513AD921}" v="74" dt="2025-07-21T15:08:25.18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1348"/>
    <p:restoredTop sz="84932"/>
  </p:normalViewPr>
  <p:slideViewPr>
    <p:cSldViewPr snapToGrid="0">
      <p:cViewPr varScale="1">
        <p:scale>
          <a:sx n="73" d="100"/>
          <a:sy n="73" d="100"/>
        </p:scale>
        <p:origin x="208" y="92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67C2DE-74CC-384C-BB64-8E91E6EAE8BD}" type="datetimeFigureOut">
              <a:rPr lang="en-GB" smtClean="0"/>
              <a:t>12/02/2026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A5A32D-5109-214A-87E2-4EEA139BFC53}" type="slidenum">
              <a:rPr lang="en-GB" smtClean="0"/>
              <a:t>‹#›</a:t>
            </a:fld>
            <a:endParaRPr lang="en-GB"/>
          </a:p>
        </p:txBody>
      </p:sp>
    </p:spTree>
    <p:extLst>
      <p:ext uri="{BB962C8B-B14F-4D97-AF65-F5344CB8AC3E}">
        <p14:creationId xmlns:p14="http://schemas.microsoft.com/office/powerpoint/2010/main" val="2252709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E1C6DA-34A0-A743-2123-8B2DAD07E5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43C3D0-9129-6EF4-893C-54955485A8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0E2629-F38F-09D4-EF47-7C82F3265905}"/>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A15B07E2-98D6-53E1-5A3F-11103880F196}"/>
              </a:ext>
            </a:extLst>
          </p:cNvPr>
          <p:cNvSpPr>
            <a:spLocks noGrp="1"/>
          </p:cNvSpPr>
          <p:nvPr>
            <p:ph type="sldNum" sz="quarter" idx="5"/>
          </p:nvPr>
        </p:nvSpPr>
        <p:spPr/>
        <p:txBody>
          <a:bodyPr/>
          <a:lstStyle/>
          <a:p>
            <a:fld id="{1EA5A32D-5109-214A-87E2-4EEA139BFC53}" type="slidenum">
              <a:rPr lang="en-GB" smtClean="0"/>
              <a:t>2</a:t>
            </a:fld>
            <a:endParaRPr lang="en-GB"/>
          </a:p>
        </p:txBody>
      </p:sp>
    </p:spTree>
    <p:extLst>
      <p:ext uri="{BB962C8B-B14F-4D97-AF65-F5344CB8AC3E}">
        <p14:creationId xmlns:p14="http://schemas.microsoft.com/office/powerpoint/2010/main" val="42905645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DC3D6-D4D3-C7C6-B269-E50C608735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ABDE55-E321-EA91-55C1-F082F159B0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2EFE61-BA25-2070-E66E-584612454AFB}"/>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37E2C9DF-DAA3-95DF-30BF-2B2DDAFE1854}"/>
              </a:ext>
            </a:extLst>
          </p:cNvPr>
          <p:cNvSpPr>
            <a:spLocks noGrp="1"/>
          </p:cNvSpPr>
          <p:nvPr>
            <p:ph type="sldNum" sz="quarter" idx="5"/>
          </p:nvPr>
        </p:nvSpPr>
        <p:spPr/>
        <p:txBody>
          <a:bodyPr/>
          <a:lstStyle/>
          <a:p>
            <a:fld id="{1EA5A32D-5109-214A-87E2-4EEA139BFC53}" type="slidenum">
              <a:rPr lang="en-GB" smtClean="0"/>
              <a:t>3</a:t>
            </a:fld>
            <a:endParaRPr lang="en-GB"/>
          </a:p>
        </p:txBody>
      </p:sp>
    </p:spTree>
    <p:extLst>
      <p:ext uri="{BB962C8B-B14F-4D97-AF65-F5344CB8AC3E}">
        <p14:creationId xmlns:p14="http://schemas.microsoft.com/office/powerpoint/2010/main" val="23479883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81E01D-60D1-92D3-1351-F31263F45A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159BBF-0E9C-B29C-1824-2F3F3C925A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B136ED-C6E3-0579-1601-0D7265FDD30C}"/>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7DEC27EA-F26C-FE7B-7489-F437ED68FF96}"/>
              </a:ext>
            </a:extLst>
          </p:cNvPr>
          <p:cNvSpPr>
            <a:spLocks noGrp="1"/>
          </p:cNvSpPr>
          <p:nvPr>
            <p:ph type="sldNum" sz="quarter" idx="5"/>
          </p:nvPr>
        </p:nvSpPr>
        <p:spPr/>
        <p:txBody>
          <a:bodyPr/>
          <a:lstStyle/>
          <a:p>
            <a:fld id="{1EA5A32D-5109-214A-87E2-4EEA139BFC53}" type="slidenum">
              <a:rPr lang="en-GB" smtClean="0"/>
              <a:t>4</a:t>
            </a:fld>
            <a:endParaRPr lang="en-GB"/>
          </a:p>
        </p:txBody>
      </p:sp>
    </p:spTree>
    <p:extLst>
      <p:ext uri="{BB962C8B-B14F-4D97-AF65-F5344CB8AC3E}">
        <p14:creationId xmlns:p14="http://schemas.microsoft.com/office/powerpoint/2010/main" val="28319391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DB713-9F69-E563-5D82-B2488EDC05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BB305C-B16D-1E6C-909D-ED8D5169AE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439C9C-81D2-CAE8-4D0C-F85C47AD04B3}"/>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068E6C9B-F237-F65A-DAF5-17B6FAE311E1}"/>
              </a:ext>
            </a:extLst>
          </p:cNvPr>
          <p:cNvSpPr>
            <a:spLocks noGrp="1"/>
          </p:cNvSpPr>
          <p:nvPr>
            <p:ph type="sldNum" sz="quarter" idx="5"/>
          </p:nvPr>
        </p:nvSpPr>
        <p:spPr/>
        <p:txBody>
          <a:bodyPr/>
          <a:lstStyle/>
          <a:p>
            <a:fld id="{1EA5A32D-5109-214A-87E2-4EEA139BFC53}" type="slidenum">
              <a:rPr lang="en-GB" smtClean="0"/>
              <a:t>6</a:t>
            </a:fld>
            <a:endParaRPr lang="en-GB"/>
          </a:p>
        </p:txBody>
      </p:sp>
    </p:spTree>
    <p:extLst>
      <p:ext uri="{BB962C8B-B14F-4D97-AF65-F5344CB8AC3E}">
        <p14:creationId xmlns:p14="http://schemas.microsoft.com/office/powerpoint/2010/main" val="21906601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A7D92-8FDE-4934-40EC-49541B5A11E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7A7B475-DDAD-7381-C0E7-13113DAD64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88294BE-7212-52F5-302D-BBA4B40E7A9C}"/>
              </a:ext>
            </a:extLst>
          </p:cNvPr>
          <p:cNvSpPr>
            <a:spLocks noGrp="1"/>
          </p:cNvSpPr>
          <p:nvPr>
            <p:ph type="dt" sz="half" idx="10"/>
          </p:nvPr>
        </p:nvSpPr>
        <p:spPr/>
        <p:txBody>
          <a:bodyPr/>
          <a:lstStyle/>
          <a:p>
            <a:fld id="{C55C25D0-E652-44B3-A5EE-4BE7FA8A8357}" type="datetimeFigureOut">
              <a:rPr lang="en-IN" smtClean="0"/>
              <a:t>12/02/26</a:t>
            </a:fld>
            <a:endParaRPr lang="en-IN"/>
          </a:p>
        </p:txBody>
      </p:sp>
      <p:sp>
        <p:nvSpPr>
          <p:cNvPr id="5" name="Footer Placeholder 4">
            <a:extLst>
              <a:ext uri="{FF2B5EF4-FFF2-40B4-BE49-F238E27FC236}">
                <a16:creationId xmlns:a16="http://schemas.microsoft.com/office/drawing/2014/main" id="{825CA5DE-18DA-461A-C229-9342E350257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4DB0690-1DB9-B1D1-C6C2-DF835BE6F5BB}"/>
              </a:ext>
            </a:extLst>
          </p:cNvPr>
          <p:cNvSpPr>
            <a:spLocks noGrp="1"/>
          </p:cNvSpPr>
          <p:nvPr>
            <p:ph type="sldNum" sz="quarter" idx="12"/>
          </p:nvPr>
        </p:nvSpPr>
        <p:spPr/>
        <p:txBody>
          <a:bodyPr/>
          <a:lstStyle/>
          <a:p>
            <a:fld id="{69C383EE-50D0-432A-837D-F9997283C96B}" type="slidenum">
              <a:rPr lang="en-IN" smtClean="0"/>
              <a:t>‹#›</a:t>
            </a:fld>
            <a:endParaRPr lang="en-IN"/>
          </a:p>
        </p:txBody>
      </p:sp>
    </p:spTree>
    <p:extLst>
      <p:ext uri="{BB962C8B-B14F-4D97-AF65-F5344CB8AC3E}">
        <p14:creationId xmlns:p14="http://schemas.microsoft.com/office/powerpoint/2010/main" val="136721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F4909-1F64-F231-A66A-93061412F55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91F255C-3112-F875-81BB-FA13D7DF2DC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2ED6BC2-61E8-C34D-295C-FC62A9A3D435}"/>
              </a:ext>
            </a:extLst>
          </p:cNvPr>
          <p:cNvSpPr>
            <a:spLocks noGrp="1"/>
          </p:cNvSpPr>
          <p:nvPr>
            <p:ph type="dt" sz="half" idx="10"/>
          </p:nvPr>
        </p:nvSpPr>
        <p:spPr/>
        <p:txBody>
          <a:bodyPr/>
          <a:lstStyle/>
          <a:p>
            <a:fld id="{C55C25D0-E652-44B3-A5EE-4BE7FA8A8357}" type="datetimeFigureOut">
              <a:rPr lang="en-IN" smtClean="0"/>
              <a:t>12/02/26</a:t>
            </a:fld>
            <a:endParaRPr lang="en-IN"/>
          </a:p>
        </p:txBody>
      </p:sp>
      <p:sp>
        <p:nvSpPr>
          <p:cNvPr id="5" name="Footer Placeholder 4">
            <a:extLst>
              <a:ext uri="{FF2B5EF4-FFF2-40B4-BE49-F238E27FC236}">
                <a16:creationId xmlns:a16="http://schemas.microsoft.com/office/drawing/2014/main" id="{F53DDB1A-DD1D-5551-2151-14D7D95F806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9112D30-DE6C-5649-B8D2-C986831E4699}"/>
              </a:ext>
            </a:extLst>
          </p:cNvPr>
          <p:cNvSpPr>
            <a:spLocks noGrp="1"/>
          </p:cNvSpPr>
          <p:nvPr>
            <p:ph type="sldNum" sz="quarter" idx="12"/>
          </p:nvPr>
        </p:nvSpPr>
        <p:spPr/>
        <p:txBody>
          <a:bodyPr/>
          <a:lstStyle/>
          <a:p>
            <a:fld id="{69C383EE-50D0-432A-837D-F9997283C96B}" type="slidenum">
              <a:rPr lang="en-IN" smtClean="0"/>
              <a:t>‹#›</a:t>
            </a:fld>
            <a:endParaRPr lang="en-IN"/>
          </a:p>
        </p:txBody>
      </p:sp>
    </p:spTree>
    <p:extLst>
      <p:ext uri="{BB962C8B-B14F-4D97-AF65-F5344CB8AC3E}">
        <p14:creationId xmlns:p14="http://schemas.microsoft.com/office/powerpoint/2010/main" val="481018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644F48-1FCA-D680-68EB-54946DF0D47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FA2DFEA-07B3-2A36-4E6E-53ACAA0AF00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530F368-8451-2FCF-FB1E-375520BAF3CC}"/>
              </a:ext>
            </a:extLst>
          </p:cNvPr>
          <p:cNvSpPr>
            <a:spLocks noGrp="1"/>
          </p:cNvSpPr>
          <p:nvPr>
            <p:ph type="dt" sz="half" idx="10"/>
          </p:nvPr>
        </p:nvSpPr>
        <p:spPr/>
        <p:txBody>
          <a:bodyPr/>
          <a:lstStyle/>
          <a:p>
            <a:fld id="{C55C25D0-E652-44B3-A5EE-4BE7FA8A8357}" type="datetimeFigureOut">
              <a:rPr lang="en-IN" smtClean="0"/>
              <a:t>12/02/26</a:t>
            </a:fld>
            <a:endParaRPr lang="en-IN"/>
          </a:p>
        </p:txBody>
      </p:sp>
      <p:sp>
        <p:nvSpPr>
          <p:cNvPr id="5" name="Footer Placeholder 4">
            <a:extLst>
              <a:ext uri="{FF2B5EF4-FFF2-40B4-BE49-F238E27FC236}">
                <a16:creationId xmlns:a16="http://schemas.microsoft.com/office/drawing/2014/main" id="{91CA2656-5A2E-9D5C-5FC1-BDC518757FE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ACC7021-2556-DAEA-EED8-58D3A8B005DD}"/>
              </a:ext>
            </a:extLst>
          </p:cNvPr>
          <p:cNvSpPr>
            <a:spLocks noGrp="1"/>
          </p:cNvSpPr>
          <p:nvPr>
            <p:ph type="sldNum" sz="quarter" idx="12"/>
          </p:nvPr>
        </p:nvSpPr>
        <p:spPr/>
        <p:txBody>
          <a:bodyPr/>
          <a:lstStyle/>
          <a:p>
            <a:fld id="{69C383EE-50D0-432A-837D-F9997283C96B}" type="slidenum">
              <a:rPr lang="en-IN" smtClean="0"/>
              <a:t>‹#›</a:t>
            </a:fld>
            <a:endParaRPr lang="en-IN"/>
          </a:p>
        </p:txBody>
      </p:sp>
    </p:spTree>
    <p:extLst>
      <p:ext uri="{BB962C8B-B14F-4D97-AF65-F5344CB8AC3E}">
        <p14:creationId xmlns:p14="http://schemas.microsoft.com/office/powerpoint/2010/main" val="19310837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5D318E-FE42-E687-3A67-12FFD0A2CFD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3286B4A-4B3A-C0FA-F7EE-03D9618BC78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0F6B080-3320-3217-A2F5-8D28E960219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1A8D773-95B8-ADE5-BFDD-D8134898AC2C}"/>
              </a:ext>
            </a:extLst>
          </p:cNvPr>
          <p:cNvSpPr>
            <a:spLocks noGrp="1"/>
          </p:cNvSpPr>
          <p:nvPr>
            <p:ph type="dt" sz="half" idx="10"/>
          </p:nvPr>
        </p:nvSpPr>
        <p:spPr/>
        <p:txBody>
          <a:bodyPr/>
          <a:lstStyle/>
          <a:p>
            <a:fld id="{C55C25D0-E652-44B3-A5EE-4BE7FA8A8357}" type="datetimeFigureOut">
              <a:rPr lang="en-IN" smtClean="0"/>
              <a:t>12/02/26</a:t>
            </a:fld>
            <a:endParaRPr lang="en-IN"/>
          </a:p>
        </p:txBody>
      </p:sp>
      <p:sp>
        <p:nvSpPr>
          <p:cNvPr id="6" name="Footer Placeholder 5">
            <a:extLst>
              <a:ext uri="{FF2B5EF4-FFF2-40B4-BE49-F238E27FC236}">
                <a16:creationId xmlns:a16="http://schemas.microsoft.com/office/drawing/2014/main" id="{66355B64-2362-A659-34A6-45CBF59A621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81FD548-CDB1-18EB-43B7-33A086C0A6BC}"/>
              </a:ext>
            </a:extLst>
          </p:cNvPr>
          <p:cNvSpPr>
            <a:spLocks noGrp="1"/>
          </p:cNvSpPr>
          <p:nvPr>
            <p:ph type="sldNum" sz="quarter" idx="12"/>
          </p:nvPr>
        </p:nvSpPr>
        <p:spPr/>
        <p:txBody>
          <a:bodyPr/>
          <a:lstStyle/>
          <a:p>
            <a:fld id="{69C383EE-50D0-432A-837D-F9997283C96B}" type="slidenum">
              <a:rPr lang="en-IN" smtClean="0"/>
              <a:t>‹#›</a:t>
            </a:fld>
            <a:endParaRPr lang="en-IN"/>
          </a:p>
        </p:txBody>
      </p:sp>
    </p:spTree>
    <p:extLst>
      <p:ext uri="{BB962C8B-B14F-4D97-AF65-F5344CB8AC3E}">
        <p14:creationId xmlns:p14="http://schemas.microsoft.com/office/powerpoint/2010/main" val="19818278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78B77-4E74-3FEB-C236-8911F362E3F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E73C7AB-4B6F-3DE0-EA6A-974D2435F3E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51A0BE5-C5EF-ADB8-994C-0A2962671E3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CA6CB2B-89A8-4F94-C937-729C7CF1A1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D1C28E7-ECBB-1FBF-EDE9-53483850A15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A5E95FF-2883-6FAE-64D1-8831D29AEB6F}"/>
              </a:ext>
            </a:extLst>
          </p:cNvPr>
          <p:cNvSpPr>
            <a:spLocks noGrp="1"/>
          </p:cNvSpPr>
          <p:nvPr>
            <p:ph type="dt" sz="half" idx="10"/>
          </p:nvPr>
        </p:nvSpPr>
        <p:spPr/>
        <p:txBody>
          <a:bodyPr/>
          <a:lstStyle/>
          <a:p>
            <a:fld id="{C55C25D0-E652-44B3-A5EE-4BE7FA8A8357}" type="datetimeFigureOut">
              <a:rPr lang="en-IN" smtClean="0"/>
              <a:t>12/02/26</a:t>
            </a:fld>
            <a:endParaRPr lang="en-IN"/>
          </a:p>
        </p:txBody>
      </p:sp>
      <p:sp>
        <p:nvSpPr>
          <p:cNvPr id="8" name="Footer Placeholder 7">
            <a:extLst>
              <a:ext uri="{FF2B5EF4-FFF2-40B4-BE49-F238E27FC236}">
                <a16:creationId xmlns:a16="http://schemas.microsoft.com/office/drawing/2014/main" id="{06C82FD4-A9CE-5121-B714-27110AF08DA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54FA031-1AE8-87DA-0D12-9E8D514AEAAC}"/>
              </a:ext>
            </a:extLst>
          </p:cNvPr>
          <p:cNvSpPr>
            <a:spLocks noGrp="1"/>
          </p:cNvSpPr>
          <p:nvPr>
            <p:ph type="sldNum" sz="quarter" idx="12"/>
          </p:nvPr>
        </p:nvSpPr>
        <p:spPr/>
        <p:txBody>
          <a:bodyPr/>
          <a:lstStyle/>
          <a:p>
            <a:fld id="{69C383EE-50D0-432A-837D-F9997283C96B}" type="slidenum">
              <a:rPr lang="en-IN" smtClean="0"/>
              <a:t>‹#›</a:t>
            </a:fld>
            <a:endParaRPr lang="en-IN"/>
          </a:p>
        </p:txBody>
      </p:sp>
    </p:spTree>
    <p:extLst>
      <p:ext uri="{BB962C8B-B14F-4D97-AF65-F5344CB8AC3E}">
        <p14:creationId xmlns:p14="http://schemas.microsoft.com/office/powerpoint/2010/main" val="20732297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FDF01-DC97-2682-5BB1-F9DDE08866A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E4DDF75-E20F-9983-A3FB-BA2D56965334}"/>
              </a:ext>
            </a:extLst>
          </p:cNvPr>
          <p:cNvSpPr>
            <a:spLocks noGrp="1"/>
          </p:cNvSpPr>
          <p:nvPr>
            <p:ph type="dt" sz="half" idx="10"/>
          </p:nvPr>
        </p:nvSpPr>
        <p:spPr/>
        <p:txBody>
          <a:bodyPr/>
          <a:lstStyle/>
          <a:p>
            <a:fld id="{C55C25D0-E652-44B3-A5EE-4BE7FA8A8357}" type="datetimeFigureOut">
              <a:rPr lang="en-IN" smtClean="0"/>
              <a:t>12/02/26</a:t>
            </a:fld>
            <a:endParaRPr lang="en-IN"/>
          </a:p>
        </p:txBody>
      </p:sp>
      <p:sp>
        <p:nvSpPr>
          <p:cNvPr id="4" name="Footer Placeholder 3">
            <a:extLst>
              <a:ext uri="{FF2B5EF4-FFF2-40B4-BE49-F238E27FC236}">
                <a16:creationId xmlns:a16="http://schemas.microsoft.com/office/drawing/2014/main" id="{301A7E9C-809A-34AB-11DD-7C762A33725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ADB8E31-67B9-8464-218F-8D7DF2E7CC76}"/>
              </a:ext>
            </a:extLst>
          </p:cNvPr>
          <p:cNvSpPr>
            <a:spLocks noGrp="1"/>
          </p:cNvSpPr>
          <p:nvPr>
            <p:ph type="sldNum" sz="quarter" idx="12"/>
          </p:nvPr>
        </p:nvSpPr>
        <p:spPr/>
        <p:txBody>
          <a:bodyPr/>
          <a:lstStyle/>
          <a:p>
            <a:fld id="{69C383EE-50D0-432A-837D-F9997283C96B}" type="slidenum">
              <a:rPr lang="en-IN" smtClean="0"/>
              <a:t>‹#›</a:t>
            </a:fld>
            <a:endParaRPr lang="en-IN"/>
          </a:p>
        </p:txBody>
      </p:sp>
    </p:spTree>
    <p:extLst>
      <p:ext uri="{BB962C8B-B14F-4D97-AF65-F5344CB8AC3E}">
        <p14:creationId xmlns:p14="http://schemas.microsoft.com/office/powerpoint/2010/main" val="13427581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90AC3AA-8B59-8465-7819-F82FF7A30B60}"/>
              </a:ext>
            </a:extLst>
          </p:cNvPr>
          <p:cNvSpPr>
            <a:spLocks noGrp="1"/>
          </p:cNvSpPr>
          <p:nvPr>
            <p:ph type="dt" sz="half" idx="10"/>
          </p:nvPr>
        </p:nvSpPr>
        <p:spPr/>
        <p:txBody>
          <a:bodyPr/>
          <a:lstStyle/>
          <a:p>
            <a:fld id="{C55C25D0-E652-44B3-A5EE-4BE7FA8A8357}" type="datetimeFigureOut">
              <a:rPr lang="en-IN" smtClean="0"/>
              <a:t>12/02/26</a:t>
            </a:fld>
            <a:endParaRPr lang="en-IN"/>
          </a:p>
        </p:txBody>
      </p:sp>
      <p:sp>
        <p:nvSpPr>
          <p:cNvPr id="3" name="Footer Placeholder 2">
            <a:extLst>
              <a:ext uri="{FF2B5EF4-FFF2-40B4-BE49-F238E27FC236}">
                <a16:creationId xmlns:a16="http://schemas.microsoft.com/office/drawing/2014/main" id="{C42AD4C5-D8EF-C9E1-BD74-26C54C5E738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9AD9C91-63A3-DC90-66AF-74A3A1CCB04C}"/>
              </a:ext>
            </a:extLst>
          </p:cNvPr>
          <p:cNvSpPr>
            <a:spLocks noGrp="1"/>
          </p:cNvSpPr>
          <p:nvPr>
            <p:ph type="sldNum" sz="quarter" idx="12"/>
          </p:nvPr>
        </p:nvSpPr>
        <p:spPr/>
        <p:txBody>
          <a:bodyPr/>
          <a:lstStyle/>
          <a:p>
            <a:fld id="{69C383EE-50D0-432A-837D-F9997283C96B}" type="slidenum">
              <a:rPr lang="en-IN" smtClean="0"/>
              <a:t>‹#›</a:t>
            </a:fld>
            <a:endParaRPr lang="en-IN"/>
          </a:p>
        </p:txBody>
      </p:sp>
    </p:spTree>
    <p:extLst>
      <p:ext uri="{BB962C8B-B14F-4D97-AF65-F5344CB8AC3E}">
        <p14:creationId xmlns:p14="http://schemas.microsoft.com/office/powerpoint/2010/main" val="30546614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FCFBA-1800-5591-70B8-4E418D1F93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DD587D8-687E-404B-CC01-788A1370051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86BEED3-71F6-B0EB-8787-B4BD3B6E19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9559800-80D8-63F7-DF89-960C4D9A5831}"/>
              </a:ext>
            </a:extLst>
          </p:cNvPr>
          <p:cNvSpPr>
            <a:spLocks noGrp="1"/>
          </p:cNvSpPr>
          <p:nvPr>
            <p:ph type="dt" sz="half" idx="10"/>
          </p:nvPr>
        </p:nvSpPr>
        <p:spPr/>
        <p:txBody>
          <a:bodyPr/>
          <a:lstStyle/>
          <a:p>
            <a:fld id="{C55C25D0-E652-44B3-A5EE-4BE7FA8A8357}" type="datetimeFigureOut">
              <a:rPr lang="en-IN" smtClean="0"/>
              <a:t>12/02/26</a:t>
            </a:fld>
            <a:endParaRPr lang="en-IN"/>
          </a:p>
        </p:txBody>
      </p:sp>
      <p:sp>
        <p:nvSpPr>
          <p:cNvPr id="6" name="Footer Placeholder 5">
            <a:extLst>
              <a:ext uri="{FF2B5EF4-FFF2-40B4-BE49-F238E27FC236}">
                <a16:creationId xmlns:a16="http://schemas.microsoft.com/office/drawing/2014/main" id="{CEC8DCE0-9E19-E635-F23A-77CC0294A02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C28D653-DD3A-36FA-13F3-F0532E2CCBED}"/>
              </a:ext>
            </a:extLst>
          </p:cNvPr>
          <p:cNvSpPr>
            <a:spLocks noGrp="1"/>
          </p:cNvSpPr>
          <p:nvPr>
            <p:ph type="sldNum" sz="quarter" idx="12"/>
          </p:nvPr>
        </p:nvSpPr>
        <p:spPr/>
        <p:txBody>
          <a:bodyPr/>
          <a:lstStyle/>
          <a:p>
            <a:fld id="{69C383EE-50D0-432A-837D-F9997283C96B}" type="slidenum">
              <a:rPr lang="en-IN" smtClean="0"/>
              <a:t>‹#›</a:t>
            </a:fld>
            <a:endParaRPr lang="en-IN"/>
          </a:p>
        </p:txBody>
      </p:sp>
    </p:spTree>
    <p:extLst>
      <p:ext uri="{BB962C8B-B14F-4D97-AF65-F5344CB8AC3E}">
        <p14:creationId xmlns:p14="http://schemas.microsoft.com/office/powerpoint/2010/main" val="13872971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18FB4-D15A-111F-7AE7-ECDA6EE35C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79CB285-0088-366F-7C15-6309AC2E98B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4A023C1-53B6-A5B1-2B82-8C439367B3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DC9ACAC-E752-1229-75B3-9E59374918C5}"/>
              </a:ext>
            </a:extLst>
          </p:cNvPr>
          <p:cNvSpPr>
            <a:spLocks noGrp="1"/>
          </p:cNvSpPr>
          <p:nvPr>
            <p:ph type="dt" sz="half" idx="10"/>
          </p:nvPr>
        </p:nvSpPr>
        <p:spPr/>
        <p:txBody>
          <a:bodyPr/>
          <a:lstStyle/>
          <a:p>
            <a:fld id="{C55C25D0-E652-44B3-A5EE-4BE7FA8A8357}" type="datetimeFigureOut">
              <a:rPr lang="en-IN" smtClean="0"/>
              <a:t>12/02/26</a:t>
            </a:fld>
            <a:endParaRPr lang="en-IN"/>
          </a:p>
        </p:txBody>
      </p:sp>
      <p:sp>
        <p:nvSpPr>
          <p:cNvPr id="6" name="Footer Placeholder 5">
            <a:extLst>
              <a:ext uri="{FF2B5EF4-FFF2-40B4-BE49-F238E27FC236}">
                <a16:creationId xmlns:a16="http://schemas.microsoft.com/office/drawing/2014/main" id="{6268FDBE-837F-6790-CD6E-171922ED23B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D052293-6DFF-7B79-FD66-DAB3A5F4696A}"/>
              </a:ext>
            </a:extLst>
          </p:cNvPr>
          <p:cNvSpPr>
            <a:spLocks noGrp="1"/>
          </p:cNvSpPr>
          <p:nvPr>
            <p:ph type="sldNum" sz="quarter" idx="12"/>
          </p:nvPr>
        </p:nvSpPr>
        <p:spPr/>
        <p:txBody>
          <a:bodyPr/>
          <a:lstStyle/>
          <a:p>
            <a:fld id="{69C383EE-50D0-432A-837D-F9997283C96B}" type="slidenum">
              <a:rPr lang="en-IN" smtClean="0"/>
              <a:t>‹#›</a:t>
            </a:fld>
            <a:endParaRPr lang="en-IN"/>
          </a:p>
        </p:txBody>
      </p:sp>
    </p:spTree>
    <p:extLst>
      <p:ext uri="{BB962C8B-B14F-4D97-AF65-F5344CB8AC3E}">
        <p14:creationId xmlns:p14="http://schemas.microsoft.com/office/powerpoint/2010/main" val="31864792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0BECA-F241-E6B4-7793-21258BAC0BC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DE87243-19A4-C9A0-E3B0-6EC584B1A71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45A6B57-5CFD-2B93-47D6-C7787E2C3886}"/>
              </a:ext>
            </a:extLst>
          </p:cNvPr>
          <p:cNvSpPr>
            <a:spLocks noGrp="1"/>
          </p:cNvSpPr>
          <p:nvPr>
            <p:ph type="dt" sz="half" idx="10"/>
          </p:nvPr>
        </p:nvSpPr>
        <p:spPr/>
        <p:txBody>
          <a:bodyPr/>
          <a:lstStyle/>
          <a:p>
            <a:fld id="{C55C25D0-E652-44B3-A5EE-4BE7FA8A8357}" type="datetimeFigureOut">
              <a:rPr lang="en-IN" smtClean="0"/>
              <a:t>12/02/26</a:t>
            </a:fld>
            <a:endParaRPr lang="en-IN"/>
          </a:p>
        </p:txBody>
      </p:sp>
      <p:sp>
        <p:nvSpPr>
          <p:cNvPr id="5" name="Footer Placeholder 4">
            <a:extLst>
              <a:ext uri="{FF2B5EF4-FFF2-40B4-BE49-F238E27FC236}">
                <a16:creationId xmlns:a16="http://schemas.microsoft.com/office/drawing/2014/main" id="{3EBB5782-CE88-93C2-FCC3-09F702ECA8E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7169677-80E2-3CB2-BC8E-A1ED036772F8}"/>
              </a:ext>
            </a:extLst>
          </p:cNvPr>
          <p:cNvSpPr>
            <a:spLocks noGrp="1"/>
          </p:cNvSpPr>
          <p:nvPr>
            <p:ph type="sldNum" sz="quarter" idx="12"/>
          </p:nvPr>
        </p:nvSpPr>
        <p:spPr/>
        <p:txBody>
          <a:bodyPr/>
          <a:lstStyle/>
          <a:p>
            <a:fld id="{69C383EE-50D0-432A-837D-F9997283C96B}" type="slidenum">
              <a:rPr lang="en-IN" smtClean="0"/>
              <a:t>‹#›</a:t>
            </a:fld>
            <a:endParaRPr lang="en-IN"/>
          </a:p>
        </p:txBody>
      </p:sp>
    </p:spTree>
    <p:extLst>
      <p:ext uri="{BB962C8B-B14F-4D97-AF65-F5344CB8AC3E}">
        <p14:creationId xmlns:p14="http://schemas.microsoft.com/office/powerpoint/2010/main" val="12646889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15D9AC-8EDA-F280-1C11-F35983D8777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297D40A-D194-8A2F-7A9E-BB859A0A2C9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48908DD-3C74-E34A-0E27-38C92F3CBF14}"/>
              </a:ext>
            </a:extLst>
          </p:cNvPr>
          <p:cNvSpPr>
            <a:spLocks noGrp="1"/>
          </p:cNvSpPr>
          <p:nvPr>
            <p:ph type="dt" sz="half" idx="10"/>
          </p:nvPr>
        </p:nvSpPr>
        <p:spPr/>
        <p:txBody>
          <a:bodyPr/>
          <a:lstStyle/>
          <a:p>
            <a:fld id="{C55C25D0-E652-44B3-A5EE-4BE7FA8A8357}" type="datetimeFigureOut">
              <a:rPr lang="en-IN" smtClean="0"/>
              <a:t>12/02/26</a:t>
            </a:fld>
            <a:endParaRPr lang="en-IN"/>
          </a:p>
        </p:txBody>
      </p:sp>
      <p:sp>
        <p:nvSpPr>
          <p:cNvPr id="5" name="Footer Placeholder 4">
            <a:extLst>
              <a:ext uri="{FF2B5EF4-FFF2-40B4-BE49-F238E27FC236}">
                <a16:creationId xmlns:a16="http://schemas.microsoft.com/office/drawing/2014/main" id="{A1B484DA-723D-082C-0775-FA252256B11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D8A90F9-800B-D5B2-76CE-827452CA90E1}"/>
              </a:ext>
            </a:extLst>
          </p:cNvPr>
          <p:cNvSpPr>
            <a:spLocks noGrp="1"/>
          </p:cNvSpPr>
          <p:nvPr>
            <p:ph type="sldNum" sz="quarter" idx="12"/>
          </p:nvPr>
        </p:nvSpPr>
        <p:spPr/>
        <p:txBody>
          <a:bodyPr/>
          <a:lstStyle/>
          <a:p>
            <a:fld id="{69C383EE-50D0-432A-837D-F9997283C96B}" type="slidenum">
              <a:rPr lang="en-IN" smtClean="0"/>
              <a:t>‹#›</a:t>
            </a:fld>
            <a:endParaRPr lang="en-IN"/>
          </a:p>
        </p:txBody>
      </p:sp>
    </p:spTree>
    <p:extLst>
      <p:ext uri="{BB962C8B-B14F-4D97-AF65-F5344CB8AC3E}">
        <p14:creationId xmlns:p14="http://schemas.microsoft.com/office/powerpoint/2010/main" val="7254191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D371A8C-6B9D-FAF3-77B6-CCB849AC72E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70E21E7-B7B7-F7E8-B4A4-A7AE8D047EA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AC68464-A9BA-F08E-1385-0E3458D1484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55C25D0-E652-44B3-A5EE-4BE7FA8A8357}" type="datetimeFigureOut">
              <a:rPr lang="en-IN" smtClean="0"/>
              <a:t>12/02/26</a:t>
            </a:fld>
            <a:endParaRPr lang="en-IN"/>
          </a:p>
        </p:txBody>
      </p:sp>
      <p:sp>
        <p:nvSpPr>
          <p:cNvPr id="5" name="Footer Placeholder 4">
            <a:extLst>
              <a:ext uri="{FF2B5EF4-FFF2-40B4-BE49-F238E27FC236}">
                <a16:creationId xmlns:a16="http://schemas.microsoft.com/office/drawing/2014/main" id="{C5417A65-2E65-B5DD-00B9-7BA6802F4B4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9F3D252-A9CF-AF57-2BBE-60B10741ED8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9C383EE-50D0-432A-837D-F9997283C96B}" type="slidenum">
              <a:rPr lang="en-IN" smtClean="0"/>
              <a:t>‹#›</a:t>
            </a:fld>
            <a:endParaRPr lang="en-IN"/>
          </a:p>
        </p:txBody>
      </p:sp>
    </p:spTree>
    <p:extLst>
      <p:ext uri="{BB962C8B-B14F-4D97-AF65-F5344CB8AC3E}">
        <p14:creationId xmlns:p14="http://schemas.microsoft.com/office/powerpoint/2010/main" val="11744030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CA94C32-B62E-5555-EB4B-0E02F061C69F}"/>
              </a:ext>
            </a:extLst>
          </p:cNvPr>
          <p:cNvPicPr>
            <a:picLocks noChangeAspect="1"/>
          </p:cNvPicPr>
          <p:nvPr/>
        </p:nvPicPr>
        <p:blipFill>
          <a:blip r:embed="rId2">
            <a:extLst>
              <a:ext uri="{28A0092B-C50C-407E-A947-70E740481C1C}">
                <a14:useLocalDpi xmlns:a14="http://schemas.microsoft.com/office/drawing/2010/main" val="0"/>
              </a:ext>
            </a:extLst>
          </a:blip>
          <a:srcRect t="41512" b="37732"/>
          <a:stretch/>
        </p:blipFill>
        <p:spPr>
          <a:xfrm>
            <a:off x="2734190" y="2731532"/>
            <a:ext cx="6723620" cy="1394936"/>
          </a:xfrm>
          <a:prstGeom prst="rect">
            <a:avLst/>
          </a:prstGeom>
        </p:spPr>
      </p:pic>
      <p:sp>
        <p:nvSpPr>
          <p:cNvPr id="6" name="Rectangle 5">
            <a:extLst>
              <a:ext uri="{FF2B5EF4-FFF2-40B4-BE49-F238E27FC236}">
                <a16:creationId xmlns:a16="http://schemas.microsoft.com/office/drawing/2014/main" id="{25AE4390-22FD-B03A-F46A-83212C25CDE6}"/>
              </a:ext>
            </a:extLst>
          </p:cNvPr>
          <p:cNvSpPr/>
          <p:nvPr/>
        </p:nvSpPr>
        <p:spPr>
          <a:xfrm>
            <a:off x="0" y="6812281"/>
            <a:ext cx="12192000" cy="45719"/>
          </a:xfrm>
          <a:prstGeom prst="rect">
            <a:avLst/>
          </a:prstGeom>
          <a:solidFill>
            <a:srgbClr val="F4B4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8" name="Picture 7">
            <a:extLst>
              <a:ext uri="{FF2B5EF4-FFF2-40B4-BE49-F238E27FC236}">
                <a16:creationId xmlns:a16="http://schemas.microsoft.com/office/drawing/2014/main" id="{71088946-65D0-58B4-A917-4FAEC4BD698D}"/>
              </a:ext>
            </a:extLst>
          </p:cNvPr>
          <p:cNvPicPr>
            <a:picLocks noChangeAspect="1"/>
          </p:cNvPicPr>
          <p:nvPr/>
        </p:nvPicPr>
        <p:blipFill>
          <a:blip r:embed="rId3">
            <a:extLst>
              <a:ext uri="{28A0092B-C50C-407E-A947-70E740481C1C}">
                <a14:useLocalDpi xmlns:a14="http://schemas.microsoft.com/office/drawing/2010/main" val="0"/>
              </a:ext>
            </a:extLst>
          </a:blip>
          <a:srcRect l="75000" b="44653"/>
          <a:stretch/>
        </p:blipFill>
        <p:spPr>
          <a:xfrm>
            <a:off x="5665509" y="0"/>
            <a:ext cx="6526491" cy="2860040"/>
          </a:xfrm>
          <a:prstGeom prst="rect">
            <a:avLst/>
          </a:prstGeom>
        </p:spPr>
      </p:pic>
      <p:pic>
        <p:nvPicPr>
          <p:cNvPr id="9" name="Picture 8">
            <a:extLst>
              <a:ext uri="{FF2B5EF4-FFF2-40B4-BE49-F238E27FC236}">
                <a16:creationId xmlns:a16="http://schemas.microsoft.com/office/drawing/2014/main" id="{7D234AC4-42BF-53A9-3919-60AF82B2A0B7}"/>
              </a:ext>
            </a:extLst>
          </p:cNvPr>
          <p:cNvPicPr>
            <a:picLocks noChangeAspect="1"/>
          </p:cNvPicPr>
          <p:nvPr/>
        </p:nvPicPr>
        <p:blipFill>
          <a:blip r:embed="rId3">
            <a:extLst>
              <a:ext uri="{28A0092B-C50C-407E-A947-70E740481C1C}">
                <a14:useLocalDpi xmlns:a14="http://schemas.microsoft.com/office/drawing/2010/main" val="0"/>
              </a:ext>
            </a:extLst>
          </a:blip>
          <a:srcRect l="75000" b="44653"/>
          <a:stretch/>
        </p:blipFill>
        <p:spPr>
          <a:xfrm flipH="1" flipV="1">
            <a:off x="-3" y="5153630"/>
            <a:ext cx="3101421" cy="1658649"/>
          </a:xfrm>
          <a:prstGeom prst="rect">
            <a:avLst/>
          </a:prstGeom>
        </p:spPr>
      </p:pic>
    </p:spTree>
    <p:extLst>
      <p:ext uri="{BB962C8B-B14F-4D97-AF65-F5344CB8AC3E}">
        <p14:creationId xmlns:p14="http://schemas.microsoft.com/office/powerpoint/2010/main" val="4620087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E2A0D2-1C0C-C21F-8B32-4C115F97498C}"/>
            </a:ext>
          </a:extLst>
        </p:cNvPr>
        <p:cNvGrpSpPr/>
        <p:nvPr/>
      </p:nvGrpSpPr>
      <p:grpSpPr>
        <a:xfrm>
          <a:off x="0" y="0"/>
          <a:ext cx="0" cy="0"/>
          <a:chOff x="0" y="0"/>
          <a:chExt cx="0" cy="0"/>
        </a:xfrm>
      </p:grpSpPr>
      <p:sp>
        <p:nvSpPr>
          <p:cNvPr id="13" name="Title 1">
            <a:extLst>
              <a:ext uri="{FF2B5EF4-FFF2-40B4-BE49-F238E27FC236}">
                <a16:creationId xmlns:a16="http://schemas.microsoft.com/office/drawing/2014/main" id="{B8ECC376-532E-5B63-CB5F-011961DCF38A}"/>
              </a:ext>
            </a:extLst>
          </p:cNvPr>
          <p:cNvSpPr>
            <a:spLocks noGrp="1"/>
          </p:cNvSpPr>
          <p:nvPr>
            <p:ph type="title"/>
          </p:nvPr>
        </p:nvSpPr>
        <p:spPr>
          <a:xfrm>
            <a:off x="838200" y="289712"/>
            <a:ext cx="9201346" cy="951938"/>
          </a:xfrm>
        </p:spPr>
        <p:txBody>
          <a:bodyPr>
            <a:normAutofit/>
          </a:bodyPr>
          <a:lstStyle/>
          <a:p>
            <a:r>
              <a:rPr lang="en-GB" sz="2400" u="sng" dirty="0">
                <a:latin typeface="Montserrat SemiBold"/>
              </a:rPr>
              <a:t>Agenda</a:t>
            </a:r>
            <a:endParaRPr lang="en-GB" sz="2400" u="sng" dirty="0">
              <a:latin typeface="Montserrat SemiBold" panose="00000700000000000000" pitchFamily="2" charset="0"/>
            </a:endParaRPr>
          </a:p>
        </p:txBody>
      </p:sp>
      <p:sp>
        <p:nvSpPr>
          <p:cNvPr id="16" name="Rectangle 15">
            <a:extLst>
              <a:ext uri="{FF2B5EF4-FFF2-40B4-BE49-F238E27FC236}">
                <a16:creationId xmlns:a16="http://schemas.microsoft.com/office/drawing/2014/main" id="{A8E19D98-D3E1-73D6-D2BE-AF6A45603276}"/>
              </a:ext>
            </a:extLst>
          </p:cNvPr>
          <p:cNvSpPr/>
          <p:nvPr/>
        </p:nvSpPr>
        <p:spPr>
          <a:xfrm>
            <a:off x="0" y="6812281"/>
            <a:ext cx="12192000" cy="45719"/>
          </a:xfrm>
          <a:prstGeom prst="rect">
            <a:avLst/>
          </a:prstGeom>
          <a:solidFill>
            <a:srgbClr val="F4B4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7" name="Picture 16">
            <a:extLst>
              <a:ext uri="{FF2B5EF4-FFF2-40B4-BE49-F238E27FC236}">
                <a16:creationId xmlns:a16="http://schemas.microsoft.com/office/drawing/2014/main" id="{959F7CA8-9670-E0A1-3194-A0056B05CAC9}"/>
              </a:ext>
            </a:extLst>
          </p:cNvPr>
          <p:cNvPicPr>
            <a:picLocks noChangeAspect="1"/>
          </p:cNvPicPr>
          <p:nvPr/>
        </p:nvPicPr>
        <p:blipFill>
          <a:blip r:embed="rId3">
            <a:extLst>
              <a:ext uri="{28A0092B-C50C-407E-A947-70E740481C1C}">
                <a14:useLocalDpi xmlns:a14="http://schemas.microsoft.com/office/drawing/2010/main" val="0"/>
              </a:ext>
            </a:extLst>
          </a:blip>
          <a:srcRect t="41512" b="37732"/>
          <a:stretch/>
        </p:blipFill>
        <p:spPr>
          <a:xfrm>
            <a:off x="10138002" y="289712"/>
            <a:ext cx="1829636" cy="379591"/>
          </a:xfrm>
          <a:prstGeom prst="rect">
            <a:avLst/>
          </a:prstGeom>
        </p:spPr>
      </p:pic>
      <p:sp>
        <p:nvSpPr>
          <p:cNvPr id="7" name="TextBox 6">
            <a:extLst>
              <a:ext uri="{FF2B5EF4-FFF2-40B4-BE49-F238E27FC236}">
                <a16:creationId xmlns:a16="http://schemas.microsoft.com/office/drawing/2014/main" id="{10269458-A233-90EB-6234-F95126310C03}"/>
              </a:ext>
            </a:extLst>
          </p:cNvPr>
          <p:cNvSpPr txBox="1"/>
          <p:nvPr/>
        </p:nvSpPr>
        <p:spPr>
          <a:xfrm>
            <a:off x="838200" y="1241650"/>
            <a:ext cx="4648200" cy="923330"/>
          </a:xfrm>
          <a:prstGeom prst="rect">
            <a:avLst/>
          </a:prstGeom>
          <a:noFill/>
        </p:spPr>
        <p:txBody>
          <a:bodyPr wrap="square" rtlCol="0">
            <a:spAutoFit/>
          </a:bodyPr>
          <a:lstStyle/>
          <a:p>
            <a:pPr marL="285750" indent="-285750">
              <a:buFont typeface="Arial" panose="020B0604020202020204" pitchFamily="34" charset="0"/>
              <a:buChar char="•"/>
            </a:pPr>
            <a:r>
              <a:rPr lang="en-GB" dirty="0"/>
              <a:t>Ingest Pipeline</a:t>
            </a:r>
          </a:p>
          <a:p>
            <a:pPr marL="285750" indent="-285750">
              <a:buFont typeface="Arial" panose="020B0604020202020204" pitchFamily="34" charset="0"/>
              <a:buChar char="•"/>
            </a:pPr>
            <a:r>
              <a:rPr lang="en-GB" dirty="0"/>
              <a:t>Ingest Pipeline v. Logstash Pipeline</a:t>
            </a:r>
          </a:p>
          <a:p>
            <a:pPr marL="285750" indent="-285750">
              <a:buFont typeface="Arial" panose="020B0604020202020204" pitchFamily="34" charset="0"/>
              <a:buChar char="•"/>
            </a:pPr>
            <a:r>
              <a:rPr lang="en-GB"/>
              <a:t>SLOs</a:t>
            </a:r>
            <a:endParaRPr lang="en-GB" dirty="0"/>
          </a:p>
        </p:txBody>
      </p:sp>
    </p:spTree>
    <p:extLst>
      <p:ext uri="{BB962C8B-B14F-4D97-AF65-F5344CB8AC3E}">
        <p14:creationId xmlns:p14="http://schemas.microsoft.com/office/powerpoint/2010/main" val="37242862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07648A-D433-3EFA-BC49-8E2094D49FF2}"/>
            </a:ext>
          </a:extLst>
        </p:cNvPr>
        <p:cNvGrpSpPr/>
        <p:nvPr/>
      </p:nvGrpSpPr>
      <p:grpSpPr>
        <a:xfrm>
          <a:off x="0" y="0"/>
          <a:ext cx="0" cy="0"/>
          <a:chOff x="0" y="0"/>
          <a:chExt cx="0" cy="0"/>
        </a:xfrm>
      </p:grpSpPr>
      <p:sp>
        <p:nvSpPr>
          <p:cNvPr id="13" name="Title 1">
            <a:extLst>
              <a:ext uri="{FF2B5EF4-FFF2-40B4-BE49-F238E27FC236}">
                <a16:creationId xmlns:a16="http://schemas.microsoft.com/office/drawing/2014/main" id="{08192090-3EB0-4479-23D3-C342B3336A7E}"/>
              </a:ext>
            </a:extLst>
          </p:cNvPr>
          <p:cNvSpPr>
            <a:spLocks noGrp="1"/>
          </p:cNvSpPr>
          <p:nvPr>
            <p:ph type="title"/>
          </p:nvPr>
        </p:nvSpPr>
        <p:spPr>
          <a:xfrm>
            <a:off x="838200" y="289712"/>
            <a:ext cx="9201346" cy="951938"/>
          </a:xfrm>
        </p:spPr>
        <p:txBody>
          <a:bodyPr>
            <a:normAutofit/>
          </a:bodyPr>
          <a:lstStyle/>
          <a:p>
            <a:r>
              <a:rPr lang="en-GB" sz="2400" u="sng" dirty="0">
                <a:latin typeface="Montserrat SemiBold"/>
              </a:rPr>
              <a:t>Ingest Pipeline</a:t>
            </a:r>
            <a:endParaRPr lang="en-GB" sz="2400" u="sng" dirty="0">
              <a:latin typeface="Montserrat SemiBold" panose="00000700000000000000" pitchFamily="2" charset="0"/>
            </a:endParaRPr>
          </a:p>
        </p:txBody>
      </p:sp>
      <p:sp>
        <p:nvSpPr>
          <p:cNvPr id="16" name="Rectangle 15">
            <a:extLst>
              <a:ext uri="{FF2B5EF4-FFF2-40B4-BE49-F238E27FC236}">
                <a16:creationId xmlns:a16="http://schemas.microsoft.com/office/drawing/2014/main" id="{6CBACB45-728D-7395-13D6-89EA7B85E63F}"/>
              </a:ext>
            </a:extLst>
          </p:cNvPr>
          <p:cNvSpPr/>
          <p:nvPr/>
        </p:nvSpPr>
        <p:spPr>
          <a:xfrm>
            <a:off x="0" y="6812281"/>
            <a:ext cx="12192000" cy="45719"/>
          </a:xfrm>
          <a:prstGeom prst="rect">
            <a:avLst/>
          </a:prstGeom>
          <a:solidFill>
            <a:srgbClr val="F4B4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7" name="Picture 16">
            <a:extLst>
              <a:ext uri="{FF2B5EF4-FFF2-40B4-BE49-F238E27FC236}">
                <a16:creationId xmlns:a16="http://schemas.microsoft.com/office/drawing/2014/main" id="{8F061057-FF68-B061-2666-42AD49216E52}"/>
              </a:ext>
            </a:extLst>
          </p:cNvPr>
          <p:cNvPicPr>
            <a:picLocks noChangeAspect="1"/>
          </p:cNvPicPr>
          <p:nvPr/>
        </p:nvPicPr>
        <p:blipFill>
          <a:blip r:embed="rId3">
            <a:extLst>
              <a:ext uri="{28A0092B-C50C-407E-A947-70E740481C1C}">
                <a14:useLocalDpi xmlns:a14="http://schemas.microsoft.com/office/drawing/2010/main" val="0"/>
              </a:ext>
            </a:extLst>
          </a:blip>
          <a:srcRect t="41512" b="37732"/>
          <a:stretch/>
        </p:blipFill>
        <p:spPr>
          <a:xfrm>
            <a:off x="10138002" y="289712"/>
            <a:ext cx="1829636" cy="379591"/>
          </a:xfrm>
          <a:prstGeom prst="rect">
            <a:avLst/>
          </a:prstGeom>
        </p:spPr>
      </p:pic>
      <p:sp>
        <p:nvSpPr>
          <p:cNvPr id="3" name="TextBox 2">
            <a:extLst>
              <a:ext uri="{FF2B5EF4-FFF2-40B4-BE49-F238E27FC236}">
                <a16:creationId xmlns:a16="http://schemas.microsoft.com/office/drawing/2014/main" id="{6BE3F7FD-F6A8-BBD9-DFC9-5E4249DFCC31}"/>
              </a:ext>
            </a:extLst>
          </p:cNvPr>
          <p:cNvSpPr txBox="1"/>
          <p:nvPr/>
        </p:nvSpPr>
        <p:spPr>
          <a:xfrm>
            <a:off x="936655" y="1241650"/>
            <a:ext cx="9102891" cy="4424288"/>
          </a:xfrm>
          <a:prstGeom prst="rect">
            <a:avLst/>
          </a:prstGeom>
          <a:noFill/>
        </p:spPr>
        <p:txBody>
          <a:bodyPr wrap="square" rtlCol="0">
            <a:spAutoFit/>
          </a:bodyPr>
          <a:lstStyle/>
          <a:p>
            <a:pPr marL="285750" indent="-285750">
              <a:buFont typeface="Arial" panose="020B0604020202020204" pitchFamily="34" charset="0"/>
              <a:buChar char="•"/>
            </a:pPr>
            <a:r>
              <a:rPr lang="en-GB" sz="1750" dirty="0"/>
              <a:t>Allows documents to be transformed before being indexed into Elasticsearch</a:t>
            </a:r>
          </a:p>
          <a:p>
            <a:pPr marL="285750" indent="-285750">
              <a:buFont typeface="Arial" panose="020B0604020202020204" pitchFamily="34" charset="0"/>
              <a:buChar char="•"/>
            </a:pPr>
            <a:endParaRPr lang="en-GB" sz="1750" dirty="0"/>
          </a:p>
          <a:p>
            <a:pPr marL="285750" indent="-285750">
              <a:buFont typeface="Arial" panose="020B0604020202020204" pitchFamily="34" charset="0"/>
              <a:buChar char="•"/>
            </a:pPr>
            <a:r>
              <a:rPr lang="en-GB" sz="1750" dirty="0"/>
              <a:t>An ingest pipeline consists of a series of configurable tasks called </a:t>
            </a:r>
            <a:r>
              <a:rPr lang="en-GB" sz="1750" b="1" dirty="0"/>
              <a:t>processors</a:t>
            </a:r>
          </a:p>
          <a:p>
            <a:pPr marL="742950" lvl="1" indent="-285750">
              <a:buFont typeface="Courier New" panose="02070309020205020404" pitchFamily="49" charset="0"/>
              <a:buChar char="o"/>
            </a:pPr>
            <a:r>
              <a:rPr lang="en-GB" dirty="0"/>
              <a:t>Each processor runs sequentially, making specific changes to incoming documents</a:t>
            </a:r>
          </a:p>
          <a:p>
            <a:pPr marL="742950" lvl="1" indent="-285750">
              <a:buFont typeface="Courier New" panose="02070309020205020404" pitchFamily="49" charset="0"/>
              <a:buChar char="o"/>
            </a:pPr>
            <a:r>
              <a:rPr lang="en-GB" dirty="0"/>
              <a:t>After the processors have run, Elasticsearch adds the transformed documents to an index or data stream</a:t>
            </a:r>
          </a:p>
          <a:p>
            <a:pPr marL="742950" lvl="1" indent="-285750">
              <a:buFont typeface="Courier New" panose="02070309020205020404" pitchFamily="49" charset="0"/>
              <a:buChar char="o"/>
            </a:pPr>
            <a:endParaRPr lang="en-GB" sz="1750" dirty="0"/>
          </a:p>
          <a:p>
            <a:pPr marL="285750" indent="-285750">
              <a:buFont typeface="Arial" panose="020B0604020202020204" pitchFamily="34" charset="0"/>
              <a:buChar char="•"/>
            </a:pPr>
            <a:r>
              <a:rPr lang="en-GB" sz="1750" dirty="0"/>
              <a:t>Node with an </a:t>
            </a:r>
            <a:r>
              <a:rPr lang="en-GB" sz="1750" i="1" dirty="0"/>
              <a:t>ingest</a:t>
            </a:r>
            <a:r>
              <a:rPr lang="en-GB" sz="1750" dirty="0"/>
              <a:t> role handles the pipeline processing</a:t>
            </a:r>
          </a:p>
          <a:p>
            <a:pPr marL="742950" lvl="1" indent="-285750">
              <a:buFont typeface="Courier New" panose="02070309020205020404" pitchFamily="49" charset="0"/>
              <a:buChar char="o"/>
            </a:pPr>
            <a:r>
              <a:rPr lang="en-GB" sz="1750" dirty="0"/>
              <a:t>For heavy ingest loads, a dedicated node for ingest is recommended</a:t>
            </a:r>
          </a:p>
          <a:p>
            <a:pPr marL="742950" lvl="1" indent="-285750">
              <a:buFont typeface="Courier New" panose="02070309020205020404" pitchFamily="49" charset="0"/>
              <a:buChar char="o"/>
            </a:pPr>
            <a:endParaRPr lang="en-GB" sz="1750" dirty="0"/>
          </a:p>
          <a:p>
            <a:pPr marL="285750" indent="-285750">
              <a:buFont typeface="Arial" panose="020B0604020202020204" pitchFamily="34" charset="0"/>
              <a:buChar char="•"/>
            </a:pPr>
            <a:r>
              <a:rPr lang="en-GB" sz="1750" dirty="0"/>
              <a:t>Deployment:</a:t>
            </a:r>
          </a:p>
          <a:p>
            <a:pPr marL="742950" lvl="1" indent="-285750">
              <a:buFont typeface="Courier New" panose="02070309020205020404" pitchFamily="49" charset="0"/>
              <a:buChar char="o"/>
            </a:pPr>
            <a:r>
              <a:rPr lang="en-GB" sz="1750" dirty="0"/>
              <a:t>Elastic Agent</a:t>
            </a:r>
          </a:p>
          <a:p>
            <a:pPr marL="742950" lvl="1" indent="-285750">
              <a:buFont typeface="Courier New" panose="02070309020205020404" pitchFamily="49" charset="0"/>
              <a:buChar char="o"/>
            </a:pPr>
            <a:r>
              <a:rPr lang="en-GB" sz="1750" dirty="0"/>
              <a:t>Beats</a:t>
            </a:r>
          </a:p>
          <a:p>
            <a:pPr marL="742950" lvl="1" indent="-285750">
              <a:buFont typeface="Courier New" panose="02070309020205020404" pitchFamily="49" charset="0"/>
              <a:buChar char="o"/>
            </a:pPr>
            <a:r>
              <a:rPr lang="en-GB" sz="1750" dirty="0"/>
              <a:t>REST API</a:t>
            </a:r>
          </a:p>
          <a:p>
            <a:pPr marL="742950" lvl="1" indent="-285750">
              <a:buFont typeface="Courier New" panose="02070309020205020404" pitchFamily="49" charset="0"/>
              <a:buChar char="o"/>
            </a:pPr>
            <a:endParaRPr lang="en-GB" sz="1750" dirty="0"/>
          </a:p>
          <a:p>
            <a:pPr marL="285750" indent="-285750">
              <a:buFont typeface="Arial" panose="020B0604020202020204" pitchFamily="34" charset="0"/>
              <a:buChar char="•"/>
            </a:pPr>
            <a:endParaRPr lang="en-GB" sz="1750" dirty="0"/>
          </a:p>
        </p:txBody>
      </p:sp>
      <p:pic>
        <p:nvPicPr>
          <p:cNvPr id="4" name="Picture 3">
            <a:extLst>
              <a:ext uri="{FF2B5EF4-FFF2-40B4-BE49-F238E27FC236}">
                <a16:creationId xmlns:a16="http://schemas.microsoft.com/office/drawing/2014/main" id="{8A55A3E4-65F3-A960-EF7F-0C3E404C03F7}"/>
              </a:ext>
            </a:extLst>
          </p:cNvPr>
          <p:cNvPicPr>
            <a:picLocks noChangeAspect="1"/>
          </p:cNvPicPr>
          <p:nvPr/>
        </p:nvPicPr>
        <p:blipFill>
          <a:blip r:embed="rId4"/>
          <a:stretch>
            <a:fillRect/>
          </a:stretch>
        </p:blipFill>
        <p:spPr>
          <a:xfrm>
            <a:off x="10240020" y="825500"/>
            <a:ext cx="1625600" cy="5207000"/>
          </a:xfrm>
          <a:prstGeom prst="rect">
            <a:avLst/>
          </a:prstGeom>
        </p:spPr>
      </p:pic>
    </p:spTree>
    <p:extLst>
      <p:ext uri="{BB962C8B-B14F-4D97-AF65-F5344CB8AC3E}">
        <p14:creationId xmlns:p14="http://schemas.microsoft.com/office/powerpoint/2010/main" val="16778911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3E6545-3A56-5194-33B2-AF7C0F0DE416}"/>
            </a:ext>
          </a:extLst>
        </p:cNvPr>
        <p:cNvGrpSpPr/>
        <p:nvPr/>
      </p:nvGrpSpPr>
      <p:grpSpPr>
        <a:xfrm>
          <a:off x="0" y="0"/>
          <a:ext cx="0" cy="0"/>
          <a:chOff x="0" y="0"/>
          <a:chExt cx="0" cy="0"/>
        </a:xfrm>
      </p:grpSpPr>
      <p:sp>
        <p:nvSpPr>
          <p:cNvPr id="13" name="Title 1">
            <a:extLst>
              <a:ext uri="{FF2B5EF4-FFF2-40B4-BE49-F238E27FC236}">
                <a16:creationId xmlns:a16="http://schemas.microsoft.com/office/drawing/2014/main" id="{42C758E3-A8CE-280B-84F0-D19E6EBD6A73}"/>
              </a:ext>
            </a:extLst>
          </p:cNvPr>
          <p:cNvSpPr>
            <a:spLocks noGrp="1"/>
          </p:cNvSpPr>
          <p:nvPr>
            <p:ph type="title"/>
          </p:nvPr>
        </p:nvSpPr>
        <p:spPr>
          <a:xfrm>
            <a:off x="838200" y="289712"/>
            <a:ext cx="9201346" cy="951938"/>
          </a:xfrm>
        </p:spPr>
        <p:txBody>
          <a:bodyPr>
            <a:normAutofit/>
          </a:bodyPr>
          <a:lstStyle/>
          <a:p>
            <a:r>
              <a:rPr lang="en-GB" sz="2400" u="sng" dirty="0">
                <a:latin typeface="Montserrat SemiBold"/>
              </a:rPr>
              <a:t>Ingest Pipeline: Processor</a:t>
            </a:r>
            <a:endParaRPr lang="en-GB" sz="2400" u="sng" dirty="0">
              <a:latin typeface="Montserrat SemiBold" panose="00000700000000000000" pitchFamily="2" charset="0"/>
            </a:endParaRPr>
          </a:p>
        </p:txBody>
      </p:sp>
      <p:sp>
        <p:nvSpPr>
          <p:cNvPr id="16" name="Rectangle 15">
            <a:extLst>
              <a:ext uri="{FF2B5EF4-FFF2-40B4-BE49-F238E27FC236}">
                <a16:creationId xmlns:a16="http://schemas.microsoft.com/office/drawing/2014/main" id="{D0D6773C-55B5-0253-3B76-21A9D3559A49}"/>
              </a:ext>
            </a:extLst>
          </p:cNvPr>
          <p:cNvSpPr/>
          <p:nvPr/>
        </p:nvSpPr>
        <p:spPr>
          <a:xfrm>
            <a:off x="0" y="6812281"/>
            <a:ext cx="12192000" cy="45719"/>
          </a:xfrm>
          <a:prstGeom prst="rect">
            <a:avLst/>
          </a:prstGeom>
          <a:solidFill>
            <a:srgbClr val="F4B4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7" name="Picture 16">
            <a:extLst>
              <a:ext uri="{FF2B5EF4-FFF2-40B4-BE49-F238E27FC236}">
                <a16:creationId xmlns:a16="http://schemas.microsoft.com/office/drawing/2014/main" id="{DFF997AD-B317-1366-C81E-BF74429669C7}"/>
              </a:ext>
            </a:extLst>
          </p:cNvPr>
          <p:cNvPicPr>
            <a:picLocks noChangeAspect="1"/>
          </p:cNvPicPr>
          <p:nvPr/>
        </p:nvPicPr>
        <p:blipFill>
          <a:blip r:embed="rId3">
            <a:extLst>
              <a:ext uri="{28A0092B-C50C-407E-A947-70E740481C1C}">
                <a14:useLocalDpi xmlns:a14="http://schemas.microsoft.com/office/drawing/2010/main" val="0"/>
              </a:ext>
            </a:extLst>
          </a:blip>
          <a:srcRect t="41512" b="37732"/>
          <a:stretch/>
        </p:blipFill>
        <p:spPr>
          <a:xfrm>
            <a:off x="10138002" y="289712"/>
            <a:ext cx="1829636" cy="379591"/>
          </a:xfrm>
          <a:prstGeom prst="rect">
            <a:avLst/>
          </a:prstGeom>
        </p:spPr>
      </p:pic>
      <p:sp>
        <p:nvSpPr>
          <p:cNvPr id="3" name="TextBox 2">
            <a:extLst>
              <a:ext uri="{FF2B5EF4-FFF2-40B4-BE49-F238E27FC236}">
                <a16:creationId xmlns:a16="http://schemas.microsoft.com/office/drawing/2014/main" id="{3ACFFC80-EDBC-8AAE-4ABA-C6A66E45CAAC}"/>
              </a:ext>
            </a:extLst>
          </p:cNvPr>
          <p:cNvSpPr txBox="1"/>
          <p:nvPr/>
        </p:nvSpPr>
        <p:spPr>
          <a:xfrm>
            <a:off x="936655" y="1241650"/>
            <a:ext cx="10576471" cy="361637"/>
          </a:xfrm>
          <a:prstGeom prst="rect">
            <a:avLst/>
          </a:prstGeom>
          <a:noFill/>
        </p:spPr>
        <p:txBody>
          <a:bodyPr wrap="square" rtlCol="0">
            <a:spAutoFit/>
          </a:bodyPr>
          <a:lstStyle/>
          <a:p>
            <a:pPr marL="285750" indent="-285750">
              <a:buFont typeface="Arial" panose="020B0604020202020204" pitchFamily="34" charset="0"/>
              <a:buChar char="•"/>
            </a:pPr>
            <a:r>
              <a:rPr lang="en-GB" sz="1750" dirty="0"/>
              <a:t>Used for parsing and structuring data</a:t>
            </a:r>
          </a:p>
        </p:txBody>
      </p:sp>
      <p:sp>
        <p:nvSpPr>
          <p:cNvPr id="2" name="TextBox 1">
            <a:extLst>
              <a:ext uri="{FF2B5EF4-FFF2-40B4-BE49-F238E27FC236}">
                <a16:creationId xmlns:a16="http://schemas.microsoft.com/office/drawing/2014/main" id="{1F6273D5-CDF1-5E0B-BE60-AD4E39ABC0CF}"/>
              </a:ext>
            </a:extLst>
          </p:cNvPr>
          <p:cNvSpPr txBox="1"/>
          <p:nvPr/>
        </p:nvSpPr>
        <p:spPr>
          <a:xfrm>
            <a:off x="2646218" y="471055"/>
            <a:ext cx="184731" cy="369332"/>
          </a:xfrm>
          <a:prstGeom prst="rect">
            <a:avLst/>
          </a:prstGeom>
          <a:noFill/>
        </p:spPr>
        <p:txBody>
          <a:bodyPr wrap="none" rtlCol="0">
            <a:spAutoFit/>
          </a:bodyPr>
          <a:lstStyle/>
          <a:p>
            <a:endParaRPr lang="en-GB" dirty="0"/>
          </a:p>
        </p:txBody>
      </p:sp>
      <p:pic>
        <p:nvPicPr>
          <p:cNvPr id="5" name="Picture 4">
            <a:extLst>
              <a:ext uri="{FF2B5EF4-FFF2-40B4-BE49-F238E27FC236}">
                <a16:creationId xmlns:a16="http://schemas.microsoft.com/office/drawing/2014/main" id="{E4A66948-14DD-E296-8237-2D8E6F959423}"/>
              </a:ext>
            </a:extLst>
          </p:cNvPr>
          <p:cNvPicPr>
            <a:picLocks noChangeAspect="1"/>
          </p:cNvPicPr>
          <p:nvPr/>
        </p:nvPicPr>
        <p:blipFill>
          <a:blip r:embed="rId4"/>
          <a:stretch>
            <a:fillRect/>
          </a:stretch>
        </p:blipFill>
        <p:spPr>
          <a:xfrm>
            <a:off x="1552673" y="1887620"/>
            <a:ext cx="7772400" cy="3082760"/>
          </a:xfrm>
          <a:prstGeom prst="rect">
            <a:avLst/>
          </a:prstGeom>
        </p:spPr>
      </p:pic>
    </p:spTree>
    <p:extLst>
      <p:ext uri="{BB962C8B-B14F-4D97-AF65-F5344CB8AC3E}">
        <p14:creationId xmlns:p14="http://schemas.microsoft.com/office/powerpoint/2010/main" val="5353449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9E394-A1F7-93B6-E565-C6FB6EE9CC5B}"/>
            </a:ext>
          </a:extLst>
        </p:cNvPr>
        <p:cNvGrpSpPr/>
        <p:nvPr/>
      </p:nvGrpSpPr>
      <p:grpSpPr>
        <a:xfrm>
          <a:off x="0" y="0"/>
          <a:ext cx="0" cy="0"/>
          <a:chOff x="0" y="0"/>
          <a:chExt cx="0" cy="0"/>
        </a:xfrm>
      </p:grpSpPr>
      <p:sp>
        <p:nvSpPr>
          <p:cNvPr id="13" name="Title 1">
            <a:extLst>
              <a:ext uri="{FF2B5EF4-FFF2-40B4-BE49-F238E27FC236}">
                <a16:creationId xmlns:a16="http://schemas.microsoft.com/office/drawing/2014/main" id="{A0BCEA22-5AD3-D0C6-6203-997027651D45}"/>
              </a:ext>
            </a:extLst>
          </p:cNvPr>
          <p:cNvSpPr>
            <a:spLocks noGrp="1"/>
          </p:cNvSpPr>
          <p:nvPr>
            <p:ph type="title"/>
          </p:nvPr>
        </p:nvSpPr>
        <p:spPr>
          <a:xfrm>
            <a:off x="224362" y="115722"/>
            <a:ext cx="9201346" cy="951938"/>
          </a:xfrm>
        </p:spPr>
        <p:txBody>
          <a:bodyPr>
            <a:normAutofit/>
          </a:bodyPr>
          <a:lstStyle/>
          <a:p>
            <a:r>
              <a:rPr lang="en-GB" sz="2400" u="sng" dirty="0">
                <a:latin typeface="Montserrat SemiBold" panose="00000700000000000000" pitchFamily="2" charset="0"/>
              </a:rPr>
              <a:t>Ingest Pipeline v. Logstash Pipeline (</a:t>
            </a:r>
            <a:r>
              <a:rPr lang="en-GB" sz="2400" u="sng" dirty="0" err="1">
                <a:latin typeface="Montserrat SemiBold" panose="00000700000000000000" pitchFamily="2" charset="0"/>
              </a:rPr>
              <a:t>Instanda</a:t>
            </a:r>
            <a:r>
              <a:rPr lang="en-GB" sz="2400" u="sng" dirty="0">
                <a:latin typeface="Montserrat SemiBold" panose="00000700000000000000" pitchFamily="2" charset="0"/>
              </a:rPr>
              <a:t> Use Case)</a:t>
            </a:r>
          </a:p>
        </p:txBody>
      </p:sp>
      <p:sp>
        <p:nvSpPr>
          <p:cNvPr id="16" name="Rectangle 15">
            <a:extLst>
              <a:ext uri="{FF2B5EF4-FFF2-40B4-BE49-F238E27FC236}">
                <a16:creationId xmlns:a16="http://schemas.microsoft.com/office/drawing/2014/main" id="{E2988E30-3A84-BB57-1703-9DA82CF2BECB}"/>
              </a:ext>
            </a:extLst>
          </p:cNvPr>
          <p:cNvSpPr/>
          <p:nvPr/>
        </p:nvSpPr>
        <p:spPr>
          <a:xfrm>
            <a:off x="0" y="6812281"/>
            <a:ext cx="12192000" cy="45719"/>
          </a:xfrm>
          <a:prstGeom prst="rect">
            <a:avLst/>
          </a:prstGeom>
          <a:solidFill>
            <a:srgbClr val="F4B4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7" name="Picture 16">
            <a:extLst>
              <a:ext uri="{FF2B5EF4-FFF2-40B4-BE49-F238E27FC236}">
                <a16:creationId xmlns:a16="http://schemas.microsoft.com/office/drawing/2014/main" id="{08CF04DE-ADEA-EC6D-1C2E-043CC99CBCDB}"/>
              </a:ext>
            </a:extLst>
          </p:cNvPr>
          <p:cNvPicPr>
            <a:picLocks noChangeAspect="1"/>
          </p:cNvPicPr>
          <p:nvPr/>
        </p:nvPicPr>
        <p:blipFill>
          <a:blip r:embed="rId2">
            <a:extLst>
              <a:ext uri="{28A0092B-C50C-407E-A947-70E740481C1C}">
                <a14:useLocalDpi xmlns:a14="http://schemas.microsoft.com/office/drawing/2010/main" val="0"/>
              </a:ext>
            </a:extLst>
          </a:blip>
          <a:srcRect t="41512" b="37732"/>
          <a:stretch/>
        </p:blipFill>
        <p:spPr>
          <a:xfrm>
            <a:off x="10138002" y="289712"/>
            <a:ext cx="1829636" cy="379591"/>
          </a:xfrm>
          <a:prstGeom prst="rect">
            <a:avLst/>
          </a:prstGeom>
        </p:spPr>
      </p:pic>
      <p:graphicFrame>
        <p:nvGraphicFramePr>
          <p:cNvPr id="2" name="Table 1">
            <a:extLst>
              <a:ext uri="{FF2B5EF4-FFF2-40B4-BE49-F238E27FC236}">
                <a16:creationId xmlns:a16="http://schemas.microsoft.com/office/drawing/2014/main" id="{B52D87A2-1793-4B97-8647-F2507C7F551E}"/>
              </a:ext>
            </a:extLst>
          </p:cNvPr>
          <p:cNvGraphicFramePr>
            <a:graphicFrameLocks noGrp="1"/>
          </p:cNvGraphicFramePr>
          <p:nvPr/>
        </p:nvGraphicFramePr>
        <p:xfrm>
          <a:off x="224362" y="939172"/>
          <a:ext cx="11743276" cy="5603240"/>
        </p:xfrm>
        <a:graphic>
          <a:graphicData uri="http://schemas.openxmlformats.org/drawingml/2006/table">
            <a:tbl>
              <a:tblPr firstRow="1" bandRow="1">
                <a:tableStyleId>{073A0DAA-6AF3-43AB-8588-CEC1D06C72B9}</a:tableStyleId>
              </a:tblPr>
              <a:tblGrid>
                <a:gridCol w="2912352">
                  <a:extLst>
                    <a:ext uri="{9D8B030D-6E8A-4147-A177-3AD203B41FA5}">
                      <a16:colId xmlns:a16="http://schemas.microsoft.com/office/drawing/2014/main" val="1609265010"/>
                    </a:ext>
                  </a:extLst>
                </a:gridCol>
                <a:gridCol w="4710286">
                  <a:extLst>
                    <a:ext uri="{9D8B030D-6E8A-4147-A177-3AD203B41FA5}">
                      <a16:colId xmlns:a16="http://schemas.microsoft.com/office/drawing/2014/main" val="2871599409"/>
                    </a:ext>
                  </a:extLst>
                </a:gridCol>
                <a:gridCol w="4120638">
                  <a:extLst>
                    <a:ext uri="{9D8B030D-6E8A-4147-A177-3AD203B41FA5}">
                      <a16:colId xmlns:a16="http://schemas.microsoft.com/office/drawing/2014/main" val="2507586006"/>
                    </a:ext>
                  </a:extLst>
                </a:gridCol>
              </a:tblGrid>
              <a:tr h="370840">
                <a:tc>
                  <a:txBody>
                    <a:bodyPr/>
                    <a:lstStyle/>
                    <a:p>
                      <a:r>
                        <a:rPr lang="en-GB" sz="1500" dirty="0"/>
                        <a:t>Feature</a:t>
                      </a:r>
                    </a:p>
                  </a:txBody>
                  <a:tcPr/>
                </a:tc>
                <a:tc>
                  <a:txBody>
                    <a:bodyPr/>
                    <a:lstStyle/>
                    <a:p>
                      <a:r>
                        <a:rPr lang="en-GB" sz="1500" dirty="0"/>
                        <a:t>Option #1 (Ingest Pipeline)</a:t>
                      </a:r>
                    </a:p>
                  </a:txBody>
                  <a:tcPr/>
                </a:tc>
                <a:tc>
                  <a:txBody>
                    <a:bodyPr/>
                    <a:lstStyle/>
                    <a:p>
                      <a:r>
                        <a:rPr lang="en-GB" sz="1500" dirty="0"/>
                        <a:t>Option #2 (Logstash Pipeline)</a:t>
                      </a:r>
                    </a:p>
                  </a:txBody>
                  <a:tcPr/>
                </a:tc>
                <a:extLst>
                  <a:ext uri="{0D108BD9-81ED-4DB2-BD59-A6C34878D82A}">
                    <a16:rowId xmlns:a16="http://schemas.microsoft.com/office/drawing/2014/main" val="1284156837"/>
                  </a:ext>
                </a:extLst>
              </a:tr>
              <a:tr h="370840">
                <a:tc>
                  <a:txBody>
                    <a:bodyPr/>
                    <a:lstStyle/>
                    <a:p>
                      <a:r>
                        <a:rPr lang="en-GB" sz="1500" dirty="0"/>
                        <a:t>Ingestion Method</a:t>
                      </a:r>
                    </a:p>
                  </a:txBody>
                  <a:tcPr/>
                </a:tc>
                <a:tc>
                  <a:txBody>
                    <a:bodyPr/>
                    <a:lstStyle/>
                    <a:p>
                      <a:r>
                        <a:rPr lang="en-GB" sz="1500" dirty="0"/>
                        <a:t>Elastic Agent</a:t>
                      </a:r>
                    </a:p>
                  </a:txBody>
                  <a:tcPr/>
                </a:tc>
                <a:tc>
                  <a:txBody>
                    <a:bodyPr/>
                    <a:lstStyle/>
                    <a:p>
                      <a:r>
                        <a:rPr lang="en-GB" sz="1500" dirty="0"/>
                        <a:t>Logstash</a:t>
                      </a:r>
                    </a:p>
                  </a:txBody>
                  <a:tcPr/>
                </a:tc>
                <a:extLst>
                  <a:ext uri="{0D108BD9-81ED-4DB2-BD59-A6C34878D82A}">
                    <a16:rowId xmlns:a16="http://schemas.microsoft.com/office/drawing/2014/main" val="2038030271"/>
                  </a:ext>
                </a:extLst>
              </a:tr>
              <a:tr h="370840">
                <a:tc>
                  <a:txBody>
                    <a:bodyPr/>
                    <a:lstStyle/>
                    <a:p>
                      <a:r>
                        <a:rPr lang="en-GB" sz="1500" dirty="0"/>
                        <a:t>Pipeline Configuration</a:t>
                      </a:r>
                    </a:p>
                  </a:txBody>
                  <a:tcPr/>
                </a:tc>
                <a:tc>
                  <a:txBody>
                    <a:bodyPr/>
                    <a:lstStyle/>
                    <a:p>
                      <a:r>
                        <a:rPr lang="en-GB" sz="1500" dirty="0"/>
                        <a:t>Single Ingest Pipeline, but with multiple pipeline processor (depends on the number of Event Hubs)</a:t>
                      </a:r>
                    </a:p>
                  </a:txBody>
                  <a:tcPr/>
                </a:tc>
                <a:tc>
                  <a:txBody>
                    <a:bodyPr/>
                    <a:lstStyle/>
                    <a:p>
                      <a:r>
                        <a:rPr lang="en-GB" sz="1500" dirty="0"/>
                        <a:t>Separate Logstash Pipeline for each Event Hub input</a:t>
                      </a:r>
                    </a:p>
                  </a:txBody>
                  <a:tcPr/>
                </a:tc>
                <a:extLst>
                  <a:ext uri="{0D108BD9-81ED-4DB2-BD59-A6C34878D82A}">
                    <a16:rowId xmlns:a16="http://schemas.microsoft.com/office/drawing/2014/main" val="1767226480"/>
                  </a:ext>
                </a:extLst>
              </a:tr>
              <a:tr h="370840">
                <a:tc>
                  <a:txBody>
                    <a:bodyPr/>
                    <a:lstStyle/>
                    <a:p>
                      <a:r>
                        <a:rPr lang="en-GB" sz="1500" dirty="0"/>
                        <a:t>Pipeline Maintenance</a:t>
                      </a:r>
                    </a:p>
                  </a:txBody>
                  <a:tcPr/>
                </a:tc>
                <a:tc>
                  <a:txBody>
                    <a:bodyPr/>
                    <a:lstStyle/>
                    <a:p>
                      <a:r>
                        <a:rPr lang="en-GB" sz="1500" dirty="0"/>
                        <a:t>All event parsing, transformation, and routing logic is concentrated in one pipeline. This requires careful pipeline design so that updates for one Event Hub do not inadvertently affect parsing for others.</a:t>
                      </a:r>
                    </a:p>
                  </a:txBody>
                  <a:tcPr/>
                </a:tc>
                <a:tc>
                  <a:txBody>
                    <a:bodyPr/>
                    <a:lstStyle/>
                    <a:p>
                      <a:r>
                        <a:rPr lang="en-GB" sz="1500" dirty="0"/>
                        <a:t>Each Event Hub gets its own pipeline, making it easier to update, test, or roll back changes per source without impacting others.</a:t>
                      </a:r>
                    </a:p>
                  </a:txBody>
                  <a:tcPr/>
                </a:tc>
                <a:extLst>
                  <a:ext uri="{0D108BD9-81ED-4DB2-BD59-A6C34878D82A}">
                    <a16:rowId xmlns:a16="http://schemas.microsoft.com/office/drawing/2014/main" val="1127157314"/>
                  </a:ext>
                </a:extLst>
              </a:tr>
              <a:tr h="370840">
                <a:tc>
                  <a:txBody>
                    <a:bodyPr/>
                    <a:lstStyle/>
                    <a:p>
                      <a:r>
                        <a:rPr lang="en-GB" sz="1500" dirty="0"/>
                        <a:t>Error Handling</a:t>
                      </a:r>
                    </a:p>
                  </a:txBody>
                  <a:tcPr/>
                </a:tc>
                <a:tc>
                  <a:txBody>
                    <a:bodyPr/>
                    <a:lstStyle/>
                    <a:p>
                      <a:r>
                        <a:rPr lang="en-GB" sz="1500" dirty="0"/>
                        <a:t>Per document only</a:t>
                      </a:r>
                    </a:p>
                  </a:txBody>
                  <a:tcPr/>
                </a:tc>
                <a:tc>
                  <a:txBody>
                    <a:bodyPr/>
                    <a:lstStyle/>
                    <a:p>
                      <a:r>
                        <a:rPr lang="en-GB" sz="1500" dirty="0"/>
                        <a:t>Per pipeline and can be monitored (with out-of-the-box Dashboard) via the Logstash integration</a:t>
                      </a:r>
                    </a:p>
                  </a:txBody>
                  <a:tcPr/>
                </a:tc>
                <a:extLst>
                  <a:ext uri="{0D108BD9-81ED-4DB2-BD59-A6C34878D82A}">
                    <a16:rowId xmlns:a16="http://schemas.microsoft.com/office/drawing/2014/main" val="1031554777"/>
                  </a:ext>
                </a:extLst>
              </a:tr>
              <a:tr h="370840">
                <a:tc>
                  <a:txBody>
                    <a:bodyPr/>
                    <a:lstStyle/>
                    <a:p>
                      <a:r>
                        <a:rPr lang="en-GB" sz="1500" dirty="0"/>
                        <a:t>Conditionals Support</a:t>
                      </a:r>
                    </a:p>
                  </a:txBody>
                  <a:tcPr/>
                </a:tc>
                <a:tc>
                  <a:txBody>
                    <a:bodyPr/>
                    <a:lstStyle/>
                    <a:p>
                      <a:r>
                        <a:rPr lang="en-GB" sz="1500" dirty="0"/>
                        <a:t>If</a:t>
                      </a:r>
                    </a:p>
                  </a:txBody>
                  <a:tcPr/>
                </a:tc>
                <a:tc>
                  <a:txBody>
                    <a:bodyPr/>
                    <a:lstStyle/>
                    <a:p>
                      <a:r>
                        <a:rPr lang="en-GB" sz="1500" dirty="0"/>
                        <a:t>If/Else blocks</a:t>
                      </a:r>
                    </a:p>
                  </a:txBody>
                  <a:tcPr/>
                </a:tc>
                <a:extLst>
                  <a:ext uri="{0D108BD9-81ED-4DB2-BD59-A6C34878D82A}">
                    <a16:rowId xmlns:a16="http://schemas.microsoft.com/office/drawing/2014/main" val="1652718462"/>
                  </a:ext>
                </a:extLst>
              </a:tr>
              <a:tr h="370840">
                <a:tc>
                  <a:txBody>
                    <a:bodyPr/>
                    <a:lstStyle/>
                    <a:p>
                      <a:r>
                        <a:rPr lang="en-GB" sz="1500" dirty="0"/>
                        <a:t>Re-ingestion of Failed Documents</a:t>
                      </a:r>
                    </a:p>
                  </a:txBody>
                  <a:tcPr/>
                </a:tc>
                <a:tc>
                  <a:txBody>
                    <a:bodyPr/>
                    <a:lstStyle/>
                    <a:p>
                      <a:r>
                        <a:rPr lang="en-GB" sz="1500" dirty="0"/>
                        <a:t>N/A</a:t>
                      </a:r>
                    </a:p>
                  </a:txBody>
                  <a:tcPr/>
                </a:tc>
                <a:tc>
                  <a:txBody>
                    <a:bodyPr/>
                    <a:lstStyle/>
                    <a:p>
                      <a:r>
                        <a:rPr lang="en-GB" sz="1500" dirty="0"/>
                        <a:t>Yes, natively supported via Dead Letter Queue (DLQ)</a:t>
                      </a:r>
                    </a:p>
                  </a:txBody>
                  <a:tcPr/>
                </a:tc>
                <a:extLst>
                  <a:ext uri="{0D108BD9-81ED-4DB2-BD59-A6C34878D82A}">
                    <a16:rowId xmlns:a16="http://schemas.microsoft.com/office/drawing/2014/main" val="1738096545"/>
                  </a:ext>
                </a:extLst>
              </a:tr>
              <a:tr h="370840">
                <a:tc>
                  <a:txBody>
                    <a:bodyPr/>
                    <a:lstStyle/>
                    <a:p>
                      <a:r>
                        <a:rPr lang="en-GB" sz="1500" dirty="0"/>
                        <a:t>Index Template</a:t>
                      </a:r>
                    </a:p>
                  </a:txBody>
                  <a:tcPr/>
                </a:tc>
                <a:tc gridSpan="2">
                  <a:txBody>
                    <a:bodyPr/>
                    <a:lstStyle/>
                    <a:p>
                      <a:pPr algn="ctr"/>
                      <a:r>
                        <a:rPr lang="en-GB" sz="1500" dirty="0"/>
                        <a:t>1 Index Template for </a:t>
                      </a:r>
                      <a:r>
                        <a:rPr lang="en-GB" sz="1500" b="1" dirty="0"/>
                        <a:t>EACH</a:t>
                      </a:r>
                      <a:r>
                        <a:rPr lang="en-GB" sz="1500" dirty="0"/>
                        <a:t> Event Hub input</a:t>
                      </a:r>
                    </a:p>
                  </a:txBody>
                  <a:tcPr/>
                </a:tc>
                <a:tc hMerge="1">
                  <a:txBody>
                    <a:bodyPr/>
                    <a:lstStyle/>
                    <a:p>
                      <a:endParaRPr lang="en-GB" dirty="0"/>
                    </a:p>
                  </a:txBody>
                  <a:tcPr/>
                </a:tc>
                <a:extLst>
                  <a:ext uri="{0D108BD9-81ED-4DB2-BD59-A6C34878D82A}">
                    <a16:rowId xmlns:a16="http://schemas.microsoft.com/office/drawing/2014/main" val="247025331"/>
                  </a:ext>
                </a:extLst>
              </a:tr>
              <a:tr h="370840">
                <a:tc>
                  <a:txBody>
                    <a:bodyPr/>
                    <a:lstStyle/>
                    <a:p>
                      <a:r>
                        <a:rPr lang="en-GB" sz="1500" dirty="0"/>
                        <a:t>Data Stream</a:t>
                      </a:r>
                    </a:p>
                  </a:txBody>
                  <a:tcPr/>
                </a:tc>
                <a:tc gridSpan="2">
                  <a:txBody>
                    <a:bodyPr/>
                    <a:lstStyle/>
                    <a:p>
                      <a:pPr algn="ctr"/>
                      <a:r>
                        <a:rPr lang="en-GB" sz="1500" dirty="0"/>
                        <a:t>1 Data Stream for </a:t>
                      </a:r>
                      <a:r>
                        <a:rPr lang="en-GB" sz="1500" b="1" dirty="0"/>
                        <a:t>EACH</a:t>
                      </a:r>
                      <a:r>
                        <a:rPr lang="en-GB" sz="1500" dirty="0"/>
                        <a:t> Event Hub input, with the namespace serving as the differentiator.</a:t>
                      </a:r>
                    </a:p>
                  </a:txBody>
                  <a:tcPr/>
                </a:tc>
                <a:tc hMerge="1">
                  <a:txBody>
                    <a:bodyPr/>
                    <a:lstStyle/>
                    <a:p>
                      <a:endParaRPr lang="en-GB" dirty="0"/>
                    </a:p>
                  </a:txBody>
                  <a:tcPr/>
                </a:tc>
                <a:extLst>
                  <a:ext uri="{0D108BD9-81ED-4DB2-BD59-A6C34878D82A}">
                    <a16:rowId xmlns:a16="http://schemas.microsoft.com/office/drawing/2014/main" val="3240083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500" dirty="0"/>
                        <a:t>Parsing Ability</a:t>
                      </a:r>
                    </a:p>
                  </a:txBody>
                  <a:tcPr/>
                </a:tc>
                <a:tc>
                  <a:txBody>
                    <a:bodyPr/>
                    <a:lstStyle/>
                    <a:p>
                      <a:r>
                        <a:rPr lang="en-GB" sz="1500" dirty="0"/>
                        <a:t>Minimal</a:t>
                      </a:r>
                    </a:p>
                  </a:txBody>
                  <a:tcPr/>
                </a:tc>
                <a:tc>
                  <a:txBody>
                    <a:bodyPr/>
                    <a:lstStyle/>
                    <a:p>
                      <a:r>
                        <a:rPr lang="en-GB" sz="1500" dirty="0"/>
                        <a:t>Higher (e.g. adding new fields with conditions, parsing nested fields)</a:t>
                      </a:r>
                    </a:p>
                  </a:txBody>
                  <a:tcPr/>
                </a:tc>
                <a:extLst>
                  <a:ext uri="{0D108BD9-81ED-4DB2-BD59-A6C34878D82A}">
                    <a16:rowId xmlns:a16="http://schemas.microsoft.com/office/drawing/2014/main" val="3244490490"/>
                  </a:ext>
                </a:extLst>
              </a:tr>
              <a:tr h="370840">
                <a:tc>
                  <a:txBody>
                    <a:bodyPr/>
                    <a:lstStyle/>
                    <a:p>
                      <a:r>
                        <a:rPr lang="en-GB" sz="1500" dirty="0"/>
                        <a:t>Operational Burden</a:t>
                      </a:r>
                    </a:p>
                  </a:txBody>
                  <a:tcPr/>
                </a:tc>
                <a:tc>
                  <a:txBody>
                    <a:bodyPr/>
                    <a:lstStyle/>
                    <a:p>
                      <a:r>
                        <a:rPr lang="en-GB" sz="1500" dirty="0"/>
                        <a:t>VM where Elastic Agent will be hosted</a:t>
                      </a:r>
                    </a:p>
                  </a:txBody>
                  <a:tcPr/>
                </a:tc>
                <a:tc>
                  <a:txBody>
                    <a:bodyPr/>
                    <a:lstStyle/>
                    <a:p>
                      <a:r>
                        <a:rPr lang="en-GB" sz="1500" dirty="0"/>
                        <a:t>VM where Logstash will be hosted, but requires higher specs</a:t>
                      </a:r>
                    </a:p>
                  </a:txBody>
                  <a:tcPr/>
                </a:tc>
                <a:extLst>
                  <a:ext uri="{0D108BD9-81ED-4DB2-BD59-A6C34878D82A}">
                    <a16:rowId xmlns:a16="http://schemas.microsoft.com/office/drawing/2014/main" val="582090663"/>
                  </a:ext>
                </a:extLst>
              </a:tr>
            </a:tbl>
          </a:graphicData>
        </a:graphic>
      </p:graphicFrame>
    </p:spTree>
    <p:extLst>
      <p:ext uri="{BB962C8B-B14F-4D97-AF65-F5344CB8AC3E}">
        <p14:creationId xmlns:p14="http://schemas.microsoft.com/office/powerpoint/2010/main" val="29506323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90DD24B-E04F-8F56-C9E5-BAAE210304BE}"/>
            </a:ext>
          </a:extLst>
        </p:cNvPr>
        <p:cNvGrpSpPr/>
        <p:nvPr/>
      </p:nvGrpSpPr>
      <p:grpSpPr>
        <a:xfrm>
          <a:off x="0" y="0"/>
          <a:ext cx="0" cy="0"/>
          <a:chOff x="0" y="0"/>
          <a:chExt cx="0" cy="0"/>
        </a:xfrm>
      </p:grpSpPr>
      <p:sp>
        <p:nvSpPr>
          <p:cNvPr id="13" name="Title 1">
            <a:extLst>
              <a:ext uri="{FF2B5EF4-FFF2-40B4-BE49-F238E27FC236}">
                <a16:creationId xmlns:a16="http://schemas.microsoft.com/office/drawing/2014/main" id="{EE4D4508-18D6-E38C-E91B-1B696E85C490}"/>
              </a:ext>
            </a:extLst>
          </p:cNvPr>
          <p:cNvSpPr>
            <a:spLocks noGrp="1"/>
          </p:cNvSpPr>
          <p:nvPr>
            <p:ph type="title"/>
          </p:nvPr>
        </p:nvSpPr>
        <p:spPr>
          <a:xfrm>
            <a:off x="838200" y="289712"/>
            <a:ext cx="9201346" cy="951938"/>
          </a:xfrm>
        </p:spPr>
        <p:txBody>
          <a:bodyPr>
            <a:normAutofit/>
          </a:bodyPr>
          <a:lstStyle/>
          <a:p>
            <a:r>
              <a:rPr lang="en-GB" sz="2400" u="sng" dirty="0">
                <a:latin typeface="Montserrat SemiBold"/>
              </a:rPr>
              <a:t>SLOs</a:t>
            </a:r>
            <a:endParaRPr lang="en-GB" sz="2400" u="sng" dirty="0">
              <a:latin typeface="Montserrat SemiBold" panose="00000700000000000000" pitchFamily="2" charset="0"/>
            </a:endParaRPr>
          </a:p>
        </p:txBody>
      </p:sp>
      <p:sp>
        <p:nvSpPr>
          <p:cNvPr id="16" name="Rectangle 15">
            <a:extLst>
              <a:ext uri="{FF2B5EF4-FFF2-40B4-BE49-F238E27FC236}">
                <a16:creationId xmlns:a16="http://schemas.microsoft.com/office/drawing/2014/main" id="{F43C7C02-F2EF-9778-7113-0352F0F077F3}"/>
              </a:ext>
            </a:extLst>
          </p:cNvPr>
          <p:cNvSpPr/>
          <p:nvPr/>
        </p:nvSpPr>
        <p:spPr>
          <a:xfrm>
            <a:off x="0" y="6812281"/>
            <a:ext cx="12192000" cy="45719"/>
          </a:xfrm>
          <a:prstGeom prst="rect">
            <a:avLst/>
          </a:prstGeom>
          <a:solidFill>
            <a:srgbClr val="F4B4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7" name="Picture 16">
            <a:extLst>
              <a:ext uri="{FF2B5EF4-FFF2-40B4-BE49-F238E27FC236}">
                <a16:creationId xmlns:a16="http://schemas.microsoft.com/office/drawing/2014/main" id="{71171939-93F1-E598-A709-44AD60620271}"/>
              </a:ext>
            </a:extLst>
          </p:cNvPr>
          <p:cNvPicPr>
            <a:picLocks noChangeAspect="1"/>
          </p:cNvPicPr>
          <p:nvPr/>
        </p:nvPicPr>
        <p:blipFill>
          <a:blip r:embed="rId3">
            <a:extLst>
              <a:ext uri="{28A0092B-C50C-407E-A947-70E740481C1C}">
                <a14:useLocalDpi xmlns:a14="http://schemas.microsoft.com/office/drawing/2010/main" val="0"/>
              </a:ext>
            </a:extLst>
          </a:blip>
          <a:srcRect t="41512" b="37732"/>
          <a:stretch/>
        </p:blipFill>
        <p:spPr>
          <a:xfrm>
            <a:off x="10138002" y="289712"/>
            <a:ext cx="1829636" cy="379591"/>
          </a:xfrm>
          <a:prstGeom prst="rect">
            <a:avLst/>
          </a:prstGeom>
        </p:spPr>
      </p:pic>
      <p:sp>
        <p:nvSpPr>
          <p:cNvPr id="3" name="TextBox 2">
            <a:extLst>
              <a:ext uri="{FF2B5EF4-FFF2-40B4-BE49-F238E27FC236}">
                <a16:creationId xmlns:a16="http://schemas.microsoft.com/office/drawing/2014/main" id="{DF1AD2AD-FF72-13B3-DB25-7EC4433D0537}"/>
              </a:ext>
            </a:extLst>
          </p:cNvPr>
          <p:cNvSpPr txBox="1"/>
          <p:nvPr/>
        </p:nvSpPr>
        <p:spPr>
          <a:xfrm>
            <a:off x="936655" y="1241650"/>
            <a:ext cx="10576471" cy="5501506"/>
          </a:xfrm>
          <a:prstGeom prst="rect">
            <a:avLst/>
          </a:prstGeom>
          <a:noFill/>
        </p:spPr>
        <p:txBody>
          <a:bodyPr wrap="square" rtlCol="0">
            <a:spAutoFit/>
          </a:bodyPr>
          <a:lstStyle/>
          <a:p>
            <a:pPr marL="285750" indent="-285750">
              <a:buFont typeface="Arial" panose="020B0604020202020204" pitchFamily="34" charset="0"/>
              <a:buChar char="•"/>
            </a:pPr>
            <a:r>
              <a:rPr lang="en-GB" dirty="0"/>
              <a:t>Define clear, measurable targets for service performance, based on factors such as availability, response times, error rates, and other key metrics</a:t>
            </a:r>
          </a:p>
          <a:p>
            <a:pPr marL="285750" indent="-285750">
              <a:buFont typeface="Arial" panose="020B0604020202020204" pitchFamily="34" charset="0"/>
              <a:buChar char="•"/>
            </a:pPr>
            <a:endParaRPr lang="en-GB" sz="1750" dirty="0"/>
          </a:p>
          <a:p>
            <a:pPr marL="285750" indent="-285750">
              <a:buFont typeface="Arial" panose="020B0604020202020204" pitchFamily="34" charset="0"/>
              <a:buChar char="•"/>
            </a:pPr>
            <a:r>
              <a:rPr lang="en-GB" dirty="0"/>
              <a:t>Can be created using various data sources, including custom KQL queries or APM latency</a:t>
            </a:r>
          </a:p>
          <a:p>
            <a:pPr marL="285750" indent="-285750">
              <a:buFont typeface="Arial" panose="020B0604020202020204" pitchFamily="34" charset="0"/>
              <a:buChar char="•"/>
            </a:pPr>
            <a:endParaRPr lang="en-GB" sz="1750" dirty="0"/>
          </a:p>
          <a:p>
            <a:pPr marL="285750" indent="-285750">
              <a:buFont typeface="Arial" panose="020B0604020202020204" pitchFamily="34" charset="0"/>
              <a:buChar char="•"/>
            </a:pPr>
            <a:r>
              <a:rPr lang="en-GB" sz="1750" dirty="0"/>
              <a:t>Important Concepts:</a:t>
            </a:r>
          </a:p>
          <a:p>
            <a:pPr marL="285750" indent="-285750">
              <a:buFont typeface="Arial" panose="020B0604020202020204" pitchFamily="34" charset="0"/>
              <a:buChar char="•"/>
            </a:pPr>
            <a:endParaRPr lang="en-GB" sz="1750" dirty="0"/>
          </a:p>
          <a:p>
            <a:pPr marL="285750" indent="-285750">
              <a:buFont typeface="Arial" panose="020B0604020202020204" pitchFamily="34" charset="0"/>
              <a:buChar char="•"/>
            </a:pPr>
            <a:endParaRPr lang="en-GB" sz="1750" dirty="0"/>
          </a:p>
          <a:p>
            <a:pPr marL="285750" indent="-285750">
              <a:buFont typeface="Arial" panose="020B0604020202020204" pitchFamily="34" charset="0"/>
              <a:buChar char="•"/>
            </a:pPr>
            <a:endParaRPr lang="en-GB" sz="1750" dirty="0"/>
          </a:p>
          <a:p>
            <a:pPr marL="285750" indent="-285750">
              <a:buFont typeface="Arial" panose="020B0604020202020204" pitchFamily="34" charset="0"/>
              <a:buChar char="•"/>
            </a:pPr>
            <a:endParaRPr lang="en-GB" sz="1750" dirty="0"/>
          </a:p>
          <a:p>
            <a:pPr marL="285750" indent="-285750">
              <a:buFont typeface="Arial" panose="020B0604020202020204" pitchFamily="34" charset="0"/>
              <a:buChar char="•"/>
            </a:pPr>
            <a:endParaRPr lang="en-GB" sz="1750" dirty="0"/>
          </a:p>
          <a:p>
            <a:pPr marL="285750" indent="-285750">
              <a:buFont typeface="Arial" panose="020B0604020202020204" pitchFamily="34" charset="0"/>
              <a:buChar char="•"/>
            </a:pPr>
            <a:endParaRPr lang="en-GB" sz="1750" dirty="0"/>
          </a:p>
          <a:p>
            <a:pPr marL="285750" indent="-285750">
              <a:buFont typeface="Arial" panose="020B0604020202020204" pitchFamily="34" charset="0"/>
              <a:buChar char="•"/>
            </a:pPr>
            <a:endParaRPr lang="en-GB" sz="1750" dirty="0"/>
          </a:p>
          <a:p>
            <a:pPr marL="285750" indent="-285750">
              <a:buFont typeface="Arial" panose="020B0604020202020204" pitchFamily="34" charset="0"/>
              <a:buChar char="•"/>
            </a:pPr>
            <a:endParaRPr lang="en-GB" sz="1750" dirty="0"/>
          </a:p>
          <a:p>
            <a:pPr marL="285750" indent="-285750">
              <a:buFont typeface="Arial" panose="020B0604020202020204" pitchFamily="34" charset="0"/>
              <a:buChar char="•"/>
            </a:pPr>
            <a:endParaRPr lang="en-GB" sz="1750" dirty="0"/>
          </a:p>
          <a:p>
            <a:pPr marL="285750" indent="-285750">
              <a:buFont typeface="Arial" panose="020B0604020202020204" pitchFamily="34" charset="0"/>
              <a:buChar char="•"/>
            </a:pPr>
            <a:endParaRPr lang="en-GB" sz="1750" dirty="0"/>
          </a:p>
          <a:p>
            <a:pPr marL="285750" indent="-285750">
              <a:buFont typeface="Arial" panose="020B0604020202020204" pitchFamily="34" charset="0"/>
              <a:buChar char="•"/>
            </a:pPr>
            <a:r>
              <a:rPr lang="en-GB" sz="1750" dirty="0"/>
              <a:t>Requires the following minimum requirements:</a:t>
            </a:r>
          </a:p>
          <a:p>
            <a:pPr marL="742950" lvl="1" indent="-285750">
              <a:buFont typeface="Courier New" panose="02070309020205020404" pitchFamily="49" charset="0"/>
              <a:buChar char="o"/>
            </a:pPr>
            <a:r>
              <a:rPr lang="en-GB" sz="1750" dirty="0"/>
              <a:t>Platinum license</a:t>
            </a:r>
          </a:p>
          <a:p>
            <a:pPr marL="742950" lvl="1" indent="-285750">
              <a:buFont typeface="Courier New" panose="02070309020205020404" pitchFamily="49" charset="0"/>
              <a:buChar char="o"/>
            </a:pPr>
            <a:r>
              <a:rPr lang="en-GB" sz="1750" dirty="0"/>
              <a:t>An Elasticsearch cluster with both </a:t>
            </a:r>
            <a:r>
              <a:rPr lang="en-GB" sz="1750" i="1" dirty="0"/>
              <a:t>transform</a:t>
            </a:r>
            <a:r>
              <a:rPr lang="en-GB" sz="1750" dirty="0"/>
              <a:t> and </a:t>
            </a:r>
            <a:r>
              <a:rPr lang="en-GB" sz="1750" i="1" dirty="0"/>
              <a:t>ingest</a:t>
            </a:r>
            <a:r>
              <a:rPr lang="en-GB" sz="1750" dirty="0"/>
              <a:t> node roles present</a:t>
            </a:r>
          </a:p>
          <a:p>
            <a:pPr marL="742950" lvl="1" indent="-285750">
              <a:buFont typeface="Courier New" panose="02070309020205020404" pitchFamily="49" charset="0"/>
              <a:buChar char="o"/>
            </a:pPr>
            <a:r>
              <a:rPr lang="en-GB" sz="1750" dirty="0"/>
              <a:t>SLO user and role access</a:t>
            </a:r>
          </a:p>
        </p:txBody>
      </p:sp>
      <p:sp>
        <p:nvSpPr>
          <p:cNvPr id="2" name="TextBox 1">
            <a:extLst>
              <a:ext uri="{FF2B5EF4-FFF2-40B4-BE49-F238E27FC236}">
                <a16:creationId xmlns:a16="http://schemas.microsoft.com/office/drawing/2014/main" id="{6F48290D-E91A-9AE1-2D36-12565F35F8AF}"/>
              </a:ext>
            </a:extLst>
          </p:cNvPr>
          <p:cNvSpPr txBox="1"/>
          <p:nvPr/>
        </p:nvSpPr>
        <p:spPr>
          <a:xfrm>
            <a:off x="2646218" y="471055"/>
            <a:ext cx="184731" cy="369332"/>
          </a:xfrm>
          <a:prstGeom prst="rect">
            <a:avLst/>
          </a:prstGeom>
          <a:noFill/>
        </p:spPr>
        <p:txBody>
          <a:bodyPr wrap="none" rtlCol="0">
            <a:spAutoFit/>
          </a:bodyPr>
          <a:lstStyle/>
          <a:p>
            <a:endParaRPr lang="en-GB" dirty="0"/>
          </a:p>
        </p:txBody>
      </p:sp>
      <p:pic>
        <p:nvPicPr>
          <p:cNvPr id="4" name="Picture 3">
            <a:extLst>
              <a:ext uri="{FF2B5EF4-FFF2-40B4-BE49-F238E27FC236}">
                <a16:creationId xmlns:a16="http://schemas.microsoft.com/office/drawing/2014/main" id="{E0F820D1-280D-1206-851D-01BDD7DC42C4}"/>
              </a:ext>
            </a:extLst>
          </p:cNvPr>
          <p:cNvPicPr>
            <a:picLocks noChangeAspect="1"/>
          </p:cNvPicPr>
          <p:nvPr/>
        </p:nvPicPr>
        <p:blipFill>
          <a:blip r:embed="rId4"/>
          <a:stretch>
            <a:fillRect/>
          </a:stretch>
        </p:blipFill>
        <p:spPr>
          <a:xfrm>
            <a:off x="1414127" y="2972893"/>
            <a:ext cx="7772400" cy="2268499"/>
          </a:xfrm>
          <a:prstGeom prst="rect">
            <a:avLst/>
          </a:prstGeom>
        </p:spPr>
      </p:pic>
    </p:spTree>
    <p:extLst>
      <p:ext uri="{BB962C8B-B14F-4D97-AF65-F5344CB8AC3E}">
        <p14:creationId xmlns:p14="http://schemas.microsoft.com/office/powerpoint/2010/main" val="31768673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35EA03-04DF-D7A2-4D9E-10E4027FA461}"/>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459C0F83-03D5-02C0-E4B2-D9F6BF0DD18A}"/>
              </a:ext>
            </a:extLst>
          </p:cNvPr>
          <p:cNvPicPr>
            <a:picLocks noChangeAspect="1"/>
          </p:cNvPicPr>
          <p:nvPr/>
        </p:nvPicPr>
        <p:blipFill>
          <a:blip r:embed="rId2">
            <a:extLst>
              <a:ext uri="{28A0092B-C50C-407E-A947-70E740481C1C}">
                <a14:useLocalDpi xmlns:a14="http://schemas.microsoft.com/office/drawing/2010/main" val="0"/>
              </a:ext>
            </a:extLst>
          </a:blip>
          <a:srcRect t="41512" b="37732"/>
          <a:stretch/>
        </p:blipFill>
        <p:spPr>
          <a:xfrm>
            <a:off x="3167612" y="5153628"/>
            <a:ext cx="4995789" cy="1036466"/>
          </a:xfrm>
          <a:prstGeom prst="rect">
            <a:avLst/>
          </a:prstGeom>
        </p:spPr>
      </p:pic>
      <p:sp>
        <p:nvSpPr>
          <p:cNvPr id="6" name="Rectangle 5">
            <a:extLst>
              <a:ext uri="{FF2B5EF4-FFF2-40B4-BE49-F238E27FC236}">
                <a16:creationId xmlns:a16="http://schemas.microsoft.com/office/drawing/2014/main" id="{EEC821EB-23EB-D8C1-2090-4C645132C108}"/>
              </a:ext>
            </a:extLst>
          </p:cNvPr>
          <p:cNvSpPr/>
          <p:nvPr/>
        </p:nvSpPr>
        <p:spPr>
          <a:xfrm>
            <a:off x="0" y="6812281"/>
            <a:ext cx="12192000" cy="45719"/>
          </a:xfrm>
          <a:prstGeom prst="rect">
            <a:avLst/>
          </a:prstGeom>
          <a:solidFill>
            <a:srgbClr val="F4B4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8" name="Picture 7">
            <a:extLst>
              <a:ext uri="{FF2B5EF4-FFF2-40B4-BE49-F238E27FC236}">
                <a16:creationId xmlns:a16="http://schemas.microsoft.com/office/drawing/2014/main" id="{549230A2-542C-4FC8-1C39-67795400377C}"/>
              </a:ext>
            </a:extLst>
          </p:cNvPr>
          <p:cNvPicPr>
            <a:picLocks noChangeAspect="1"/>
          </p:cNvPicPr>
          <p:nvPr/>
        </p:nvPicPr>
        <p:blipFill>
          <a:blip r:embed="rId3">
            <a:extLst>
              <a:ext uri="{28A0092B-C50C-407E-A947-70E740481C1C}">
                <a14:useLocalDpi xmlns:a14="http://schemas.microsoft.com/office/drawing/2010/main" val="0"/>
              </a:ext>
            </a:extLst>
          </a:blip>
          <a:srcRect l="75000" b="44653"/>
          <a:stretch/>
        </p:blipFill>
        <p:spPr>
          <a:xfrm>
            <a:off x="5665509" y="0"/>
            <a:ext cx="6526491" cy="2860040"/>
          </a:xfrm>
          <a:prstGeom prst="rect">
            <a:avLst/>
          </a:prstGeom>
        </p:spPr>
      </p:pic>
      <p:pic>
        <p:nvPicPr>
          <p:cNvPr id="9" name="Picture 8">
            <a:extLst>
              <a:ext uri="{FF2B5EF4-FFF2-40B4-BE49-F238E27FC236}">
                <a16:creationId xmlns:a16="http://schemas.microsoft.com/office/drawing/2014/main" id="{0E6506B2-B5DF-3D9E-2D1C-63165345F341}"/>
              </a:ext>
            </a:extLst>
          </p:cNvPr>
          <p:cNvPicPr>
            <a:picLocks noChangeAspect="1"/>
          </p:cNvPicPr>
          <p:nvPr/>
        </p:nvPicPr>
        <p:blipFill>
          <a:blip r:embed="rId3">
            <a:extLst>
              <a:ext uri="{28A0092B-C50C-407E-A947-70E740481C1C}">
                <a14:useLocalDpi xmlns:a14="http://schemas.microsoft.com/office/drawing/2010/main" val="0"/>
              </a:ext>
            </a:extLst>
          </a:blip>
          <a:srcRect l="75000" b="44653"/>
          <a:stretch/>
        </p:blipFill>
        <p:spPr>
          <a:xfrm flipH="1" flipV="1">
            <a:off x="-3" y="5153630"/>
            <a:ext cx="3101421" cy="1658649"/>
          </a:xfrm>
          <a:prstGeom prst="rect">
            <a:avLst/>
          </a:prstGeom>
        </p:spPr>
      </p:pic>
      <p:sp>
        <p:nvSpPr>
          <p:cNvPr id="2" name="Title 1">
            <a:extLst>
              <a:ext uri="{FF2B5EF4-FFF2-40B4-BE49-F238E27FC236}">
                <a16:creationId xmlns:a16="http://schemas.microsoft.com/office/drawing/2014/main" id="{FD3599F6-A88C-9AE6-AF8E-9074EE24A92E}"/>
              </a:ext>
            </a:extLst>
          </p:cNvPr>
          <p:cNvSpPr>
            <a:spLocks noGrp="1"/>
          </p:cNvSpPr>
          <p:nvPr>
            <p:ph type="title"/>
          </p:nvPr>
        </p:nvSpPr>
        <p:spPr>
          <a:xfrm>
            <a:off x="3511090" y="2634587"/>
            <a:ext cx="4308835" cy="951938"/>
          </a:xfrm>
        </p:spPr>
        <p:txBody>
          <a:bodyPr>
            <a:normAutofit/>
          </a:bodyPr>
          <a:lstStyle/>
          <a:p>
            <a:pPr algn="ctr"/>
            <a:r>
              <a:rPr lang="en-GB" sz="2400" dirty="0">
                <a:solidFill>
                  <a:schemeClr val="bg2">
                    <a:lumMod val="50000"/>
                  </a:schemeClr>
                </a:solidFill>
                <a:latin typeface="Montserrat SemiBold" panose="00000700000000000000" pitchFamily="2" charset="0"/>
              </a:rPr>
              <a:t>Thank you</a:t>
            </a:r>
          </a:p>
        </p:txBody>
      </p:sp>
      <p:cxnSp>
        <p:nvCxnSpPr>
          <p:cNvPr id="5" name="Straight Connector 4">
            <a:extLst>
              <a:ext uri="{FF2B5EF4-FFF2-40B4-BE49-F238E27FC236}">
                <a16:creationId xmlns:a16="http://schemas.microsoft.com/office/drawing/2014/main" id="{B7603E09-831B-EA75-3119-8BCB26D2FF87}"/>
              </a:ext>
            </a:extLst>
          </p:cNvPr>
          <p:cNvCxnSpPr/>
          <p:nvPr/>
        </p:nvCxnSpPr>
        <p:spPr>
          <a:xfrm>
            <a:off x="4594963" y="3439734"/>
            <a:ext cx="1998483" cy="0"/>
          </a:xfrm>
          <a:prstGeom prst="line">
            <a:avLst/>
          </a:prstGeom>
          <a:ln>
            <a:solidFill>
              <a:schemeClr val="bg2">
                <a:lumMod val="50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3750419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8C0C0441FE33E438A6BBF0947139EC6" ma:contentTypeVersion="14" ma:contentTypeDescription="Create a new document." ma:contentTypeScope="" ma:versionID="bc01fef50e4103331e462c67e2b6d198">
  <xsd:schema xmlns:xsd="http://www.w3.org/2001/XMLSchema" xmlns:xs="http://www.w3.org/2001/XMLSchema" xmlns:p="http://schemas.microsoft.com/office/2006/metadata/properties" xmlns:ns2="4f4d2f10-b445-4239-b2fc-c02eea758ff5" xmlns:ns3="eccb6a2e-0f05-4740-ae2b-a45b2cd91803" targetNamespace="http://schemas.microsoft.com/office/2006/metadata/properties" ma:root="true" ma:fieldsID="6bd2ce0e04129267851a5ec696942c74" ns2:_="" ns3:_="">
    <xsd:import namespace="4f4d2f10-b445-4239-b2fc-c02eea758ff5"/>
    <xsd:import namespace="eccb6a2e-0f05-4740-ae2b-a45b2cd9180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3:TaxCatchAll" minOccurs="0"/>
                <xsd:element ref="ns2:MediaServiceOCR" minOccurs="0"/>
                <xsd:element ref="ns2:MediaServiceGenerationTime" minOccurs="0"/>
                <xsd:element ref="ns2:MediaServiceEventHashCode" minOccurs="0"/>
                <xsd:element ref="ns2:lcf76f155ced4ddcb4097134ff3c332f"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f4d2f10-b445-4239-b2fc-c02eea758ff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22c4f1cb-1b0a-4987-9fb3-50652ced6edd"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eccb6a2e-0f05-4740-ae2b-a45b2cd91803"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3eb30c0c-e3c6-4f7c-b93f-49d6a2a788ee}" ma:internalName="TaxCatchAll" ma:showField="CatchAllData" ma:web="eccb6a2e-0f05-4740-ae2b-a45b2cd9180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eccb6a2e-0f05-4740-ae2b-a45b2cd91803" xsi:nil="true"/>
    <lcf76f155ced4ddcb4097134ff3c332f xmlns="4f4d2f10-b445-4239-b2fc-c02eea758ff5">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2A259FE5-3643-4A8D-80F7-403E395BC154}">
  <ds:schemaRefs>
    <ds:schemaRef ds:uri="http://schemas.microsoft.com/sharepoint/v3/contenttype/forms"/>
  </ds:schemaRefs>
</ds:datastoreItem>
</file>

<file path=customXml/itemProps2.xml><?xml version="1.0" encoding="utf-8"?>
<ds:datastoreItem xmlns:ds="http://schemas.openxmlformats.org/officeDocument/2006/customXml" ds:itemID="{BF1D0FBB-7C6B-45CF-BB82-79AE636BD7A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f4d2f10-b445-4239-b2fc-c02eea758ff5"/>
    <ds:schemaRef ds:uri="eccb6a2e-0f05-4740-ae2b-a45b2cd9180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2249B3F-34DE-436E-821E-78099275B349}">
  <ds:schemaRefs>
    <ds:schemaRef ds:uri="http://purl.org/dc/elements/1.1/"/>
    <ds:schemaRef ds:uri="http://schemas.microsoft.com/office/infopath/2007/PartnerControls"/>
    <ds:schemaRef ds:uri="http://www.w3.org/XML/1998/namespace"/>
    <ds:schemaRef ds:uri="http://schemas.openxmlformats.org/package/2006/metadata/core-properties"/>
    <ds:schemaRef ds:uri="http://purl.org/dc/terms/"/>
    <ds:schemaRef ds:uri="http://schemas.microsoft.com/office/2006/documentManagement/types"/>
    <ds:schemaRef ds:uri="http://schemas.microsoft.com/office/2006/metadata/properties"/>
    <ds:schemaRef ds:uri="http://purl.org/dc/dcmitype/"/>
    <ds:schemaRef ds:uri="4f4d2f10-b445-4239-b2fc-c02eea758ff5"/>
    <ds:schemaRef ds:uri="eccb6a2e-0f05-4740-ae2b-a45b2cd91803"/>
  </ds:schemaRefs>
</ds:datastoreItem>
</file>

<file path=docProps/app.xml><?xml version="1.0" encoding="utf-8"?>
<Properties xmlns="http://schemas.openxmlformats.org/officeDocument/2006/extended-properties" xmlns:vt="http://schemas.openxmlformats.org/officeDocument/2006/docPropsVTypes">
  <TotalTime>18246</TotalTime>
  <Words>410</Words>
  <Application>Microsoft Macintosh PowerPoint</Application>
  <PresentationFormat>Widescreen</PresentationFormat>
  <Paragraphs>77</Paragraphs>
  <Slides>7</Slides>
  <Notes>4</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Aptos</vt:lpstr>
      <vt:lpstr>Arial</vt:lpstr>
      <vt:lpstr>Calibri</vt:lpstr>
      <vt:lpstr>Calibri Light</vt:lpstr>
      <vt:lpstr>Courier New</vt:lpstr>
      <vt:lpstr>Montserrat SemiBold</vt:lpstr>
      <vt:lpstr>Office Theme</vt:lpstr>
      <vt:lpstr>PowerPoint Presentation</vt:lpstr>
      <vt:lpstr>Agenda</vt:lpstr>
      <vt:lpstr>Ingest Pipeline</vt:lpstr>
      <vt:lpstr>Ingest Pipeline: Processor</vt:lpstr>
      <vt:lpstr>Ingest Pipeline v. Logstash Pipeline (Instanda Use Case)</vt:lpstr>
      <vt:lpstr>SLOs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Karnika Singh</dc:creator>
  <cp:lastModifiedBy>Dexter Villar</cp:lastModifiedBy>
  <cp:revision>967</cp:revision>
  <dcterms:created xsi:type="dcterms:W3CDTF">2025-02-25T11:09:41Z</dcterms:created>
  <dcterms:modified xsi:type="dcterms:W3CDTF">2026-02-12T13:06:06Z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0x010100F8C0C0441FE33E438A6BBF0947139EC6</vt:lpwstr>
  </property>
  <property fmtid="{D5CDD505-2E9C-101B-9397-08002B2CF9AE}" pid="3" name="MediaServiceImageTags">
    <vt:lpwstr/>
  </property>
</Properties>
</file>